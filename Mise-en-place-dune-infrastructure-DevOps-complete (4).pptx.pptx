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rata" charset="1" panose="00000500000000000000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15" Target="../media/image31.png" Type="http://schemas.openxmlformats.org/officeDocument/2006/relationships/image"/><Relationship Id="rId16" Target="../media/image32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317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3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583684"/>
            <a:ext cx="9445523" cy="267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2D4BA"/>
                </a:solidFill>
                <a:latin typeface="Prata"/>
                <a:ea typeface="Prata"/>
                <a:cs typeface="Prata"/>
                <a:sym typeface="Prata"/>
              </a:rPr>
              <a:t>Mise en place d’une infrastructure DevOps complète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581077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Automatisation du cycle de vie d’une application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5458416"/>
            <a:ext cx="9445523" cy="3891115"/>
            <a:chOff x="0" y="0"/>
            <a:chExt cx="12594031" cy="51881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94082" cy="5188204"/>
            </a:xfrm>
            <a:custGeom>
              <a:avLst/>
              <a:gdLst/>
              <a:ahLst/>
              <a:cxnLst/>
              <a:rect r="r" b="b" t="t" l="l"/>
              <a:pathLst>
                <a:path h="5188204" w="1259408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2537313" y="0"/>
                  </a:lnTo>
                  <a:cubicBezTo>
                    <a:pt x="12568682" y="0"/>
                    <a:pt x="12594082" y="25400"/>
                    <a:pt x="12594082" y="56769"/>
                  </a:cubicBezTo>
                  <a:lnTo>
                    <a:pt x="12594082" y="5131435"/>
                  </a:lnTo>
                  <a:cubicBezTo>
                    <a:pt x="12594082" y="5162804"/>
                    <a:pt x="12568682" y="5188204"/>
                    <a:pt x="12537313" y="5188204"/>
                  </a:cubicBezTo>
                  <a:lnTo>
                    <a:pt x="56769" y="5188204"/>
                  </a:lnTo>
                  <a:cubicBezTo>
                    <a:pt x="25400" y="5188204"/>
                    <a:pt x="0" y="5162804"/>
                    <a:pt x="0" y="5131435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92238" y="5458416"/>
            <a:ext cx="4722762" cy="2257425"/>
            <a:chOff x="0" y="0"/>
            <a:chExt cx="6297016" cy="3009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97168" cy="3009900"/>
            </a:xfrm>
            <a:custGeom>
              <a:avLst/>
              <a:gdLst/>
              <a:ahLst/>
              <a:cxnLst/>
              <a:rect r="r" b="b" t="t" l="l"/>
              <a:pathLst>
                <a:path h="3009900" w="629716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240399" y="0"/>
                  </a:lnTo>
                  <a:cubicBezTo>
                    <a:pt x="6271768" y="0"/>
                    <a:pt x="6297168" y="25400"/>
                    <a:pt x="6297168" y="56769"/>
                  </a:cubicBezTo>
                  <a:lnTo>
                    <a:pt x="6297168" y="2953131"/>
                  </a:lnTo>
                  <a:cubicBezTo>
                    <a:pt x="6297168" y="2984500"/>
                    <a:pt x="6271768" y="3009900"/>
                    <a:pt x="6240399" y="3009900"/>
                  </a:cubicBezTo>
                  <a:lnTo>
                    <a:pt x="56769" y="3009900"/>
                  </a:lnTo>
                  <a:cubicBezTo>
                    <a:pt x="25400" y="3009900"/>
                    <a:pt x="0" y="2984500"/>
                    <a:pt x="0" y="2953131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75759" y="572288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Nom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5759" y="6250191"/>
            <a:ext cx="4155729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Étudiante : Sekkat Israa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5759" y="6873926"/>
            <a:ext cx="4155729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Étudiante : Msouhli Rahil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715000" y="5458416"/>
            <a:ext cx="4722762" cy="2257425"/>
            <a:chOff x="0" y="0"/>
            <a:chExt cx="6297016" cy="30099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97041" cy="3009900"/>
            </a:xfrm>
            <a:custGeom>
              <a:avLst/>
              <a:gdLst/>
              <a:ahLst/>
              <a:cxnLst/>
              <a:rect r="r" b="b" t="t" l="l"/>
              <a:pathLst>
                <a:path h="3009900" w="6297041">
                  <a:moveTo>
                    <a:pt x="0" y="0"/>
                  </a:moveTo>
                  <a:lnTo>
                    <a:pt x="6297041" y="0"/>
                  </a:lnTo>
                  <a:lnTo>
                    <a:pt x="6297041" y="3009900"/>
                  </a:lnTo>
                  <a:lnTo>
                    <a:pt x="0" y="3009900"/>
                  </a:ln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715000" y="5458416"/>
            <a:ext cx="38100" cy="2257425"/>
            <a:chOff x="0" y="0"/>
            <a:chExt cx="50800" cy="30099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800" cy="3009900"/>
            </a:xfrm>
            <a:custGeom>
              <a:avLst/>
              <a:gdLst/>
              <a:ahLst/>
              <a:cxnLst/>
              <a:rect r="r" b="b" t="t" l="l"/>
              <a:pathLst>
                <a:path h="3009900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984500"/>
                  </a:lnTo>
                  <a:cubicBezTo>
                    <a:pt x="50800" y="2998470"/>
                    <a:pt x="39370" y="3009900"/>
                    <a:pt x="25400" y="3009900"/>
                  </a:cubicBezTo>
                  <a:cubicBezTo>
                    <a:pt x="11430" y="3009900"/>
                    <a:pt x="0" y="2998470"/>
                    <a:pt x="0" y="2984500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998521" y="572288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Encadrant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98521" y="6250191"/>
            <a:ext cx="4155729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Pr. : Benabbou Fouzia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92238" y="7715841"/>
            <a:ext cx="9445523" cy="1633690"/>
            <a:chOff x="0" y="0"/>
            <a:chExt cx="12594031" cy="217825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94082" cy="2178304"/>
            </a:xfrm>
            <a:custGeom>
              <a:avLst/>
              <a:gdLst/>
              <a:ahLst/>
              <a:cxnLst/>
              <a:rect r="r" b="b" t="t" l="l"/>
              <a:pathLst>
                <a:path h="2178304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2178304"/>
                  </a:lnTo>
                  <a:lnTo>
                    <a:pt x="0" y="2178304"/>
                  </a:ln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92238" y="7715841"/>
            <a:ext cx="9445523" cy="38100"/>
            <a:chOff x="0" y="0"/>
            <a:chExt cx="12594031" cy="50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94082" cy="50800"/>
            </a:xfrm>
            <a:custGeom>
              <a:avLst/>
              <a:gdLst/>
              <a:ahLst/>
              <a:cxnLst/>
              <a:rect r="r" b="b" t="t" l="l"/>
              <a:pathLst>
                <a:path h="50800" w="125940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568682" y="0"/>
                  </a:lnTo>
                  <a:cubicBezTo>
                    <a:pt x="12582651" y="0"/>
                    <a:pt x="12594082" y="11430"/>
                    <a:pt x="12594082" y="25400"/>
                  </a:cubicBezTo>
                  <a:cubicBezTo>
                    <a:pt x="12594082" y="39370"/>
                    <a:pt x="12582651" y="50800"/>
                    <a:pt x="12568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75759" y="798031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Année universitaire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5759" y="8507616"/>
            <a:ext cx="8878491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317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3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22729" y="1231554"/>
            <a:ext cx="4642399" cy="59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2"/>
              </a:lnSpc>
            </a:pPr>
            <a:r>
              <a:rPr lang="en-US" sz="3625">
                <a:solidFill>
                  <a:srgbClr val="F2D4BA"/>
                </a:solidFill>
                <a:latin typeface="Prata"/>
                <a:ea typeface="Prata"/>
                <a:cs typeface="Prata"/>
                <a:sym typeface="Prata"/>
              </a:rPr>
              <a:t>Sommaire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34475" y="2395690"/>
            <a:ext cx="19050" cy="7016201"/>
            <a:chOff x="0" y="0"/>
            <a:chExt cx="25400" cy="93549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00" cy="9354947"/>
            </a:xfrm>
            <a:custGeom>
              <a:avLst/>
              <a:gdLst/>
              <a:ahLst/>
              <a:cxnLst/>
              <a:rect r="r" b="b" t="t" l="l"/>
              <a:pathLst>
                <a:path h="9354947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9342247"/>
                  </a:lnTo>
                  <a:cubicBezTo>
                    <a:pt x="25400" y="9349232"/>
                    <a:pt x="19685" y="9354947"/>
                    <a:pt x="12700" y="9354947"/>
                  </a:cubicBezTo>
                  <a:cubicBezTo>
                    <a:pt x="5715" y="9354947"/>
                    <a:pt x="0" y="9349232"/>
                    <a:pt x="0" y="9342247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791727" y="2594972"/>
            <a:ext cx="371323" cy="19050"/>
            <a:chOff x="0" y="0"/>
            <a:chExt cx="495097" cy="25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5046" cy="25400"/>
            </a:xfrm>
            <a:custGeom>
              <a:avLst/>
              <a:gdLst/>
              <a:ahLst/>
              <a:cxnLst/>
              <a:rect r="r" b="b" t="t" l="l"/>
              <a:pathLst>
                <a:path h="25400" w="495046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482346" y="0"/>
                  </a:lnTo>
                  <a:cubicBezTo>
                    <a:pt x="489331" y="0"/>
                    <a:pt x="495046" y="5715"/>
                    <a:pt x="495046" y="12700"/>
                  </a:cubicBezTo>
                  <a:cubicBezTo>
                    <a:pt x="495046" y="19685"/>
                    <a:pt x="489331" y="25400"/>
                    <a:pt x="48234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74420" y="2534917"/>
            <a:ext cx="139151" cy="139151"/>
            <a:chOff x="0" y="0"/>
            <a:chExt cx="185534" cy="1855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5420" cy="185420"/>
            </a:xfrm>
            <a:custGeom>
              <a:avLst/>
              <a:gdLst/>
              <a:ahLst/>
              <a:cxnLst/>
              <a:rect r="r" b="b" t="t" l="l"/>
              <a:pathLst>
                <a:path h="185420" w="18542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cubicBezTo>
                    <a:pt x="143891" y="0"/>
                    <a:pt x="185420" y="41529"/>
                    <a:pt x="185420" y="92710"/>
                  </a:cubicBezTo>
                  <a:cubicBezTo>
                    <a:pt x="185420" y="143891"/>
                    <a:pt x="143891" y="185420"/>
                    <a:pt x="92710" y="185420"/>
                  </a:cubicBezTo>
                  <a:cubicBezTo>
                    <a:pt x="41529" y="185420"/>
                    <a:pt x="0" y="144018"/>
                    <a:pt x="0" y="92710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080227" y="2449859"/>
            <a:ext cx="2321128" cy="29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9"/>
              </a:lnSpc>
            </a:pPr>
            <a:r>
              <a:rPr lang="en-US" sz="1812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Problématique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37399" y="2803474"/>
            <a:ext cx="5663956" cy="26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4"/>
              </a:lnSpc>
            </a:pPr>
            <a:r>
              <a:rPr lang="en-US" sz="143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Identifier le besoin et le défi initial.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24950" y="3580809"/>
            <a:ext cx="371323" cy="19050"/>
            <a:chOff x="0" y="0"/>
            <a:chExt cx="495097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5046" cy="25400"/>
            </a:xfrm>
            <a:custGeom>
              <a:avLst/>
              <a:gdLst/>
              <a:ahLst/>
              <a:cxnLst/>
              <a:rect r="r" b="b" t="t" l="l"/>
              <a:pathLst>
                <a:path h="25400" w="495046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482346" y="0"/>
                  </a:lnTo>
                  <a:cubicBezTo>
                    <a:pt x="489331" y="0"/>
                    <a:pt x="495046" y="5715"/>
                    <a:pt x="495046" y="12700"/>
                  </a:cubicBezTo>
                  <a:cubicBezTo>
                    <a:pt x="495046" y="19685"/>
                    <a:pt x="489331" y="25400"/>
                    <a:pt x="48234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074420" y="3520754"/>
            <a:ext cx="139151" cy="139151"/>
            <a:chOff x="0" y="0"/>
            <a:chExt cx="185534" cy="1855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5420" cy="185420"/>
            </a:xfrm>
            <a:custGeom>
              <a:avLst/>
              <a:gdLst/>
              <a:ahLst/>
              <a:cxnLst/>
              <a:rect r="r" b="b" t="t" l="l"/>
              <a:pathLst>
                <a:path h="185420" w="18542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cubicBezTo>
                    <a:pt x="143891" y="0"/>
                    <a:pt x="185420" y="41529"/>
                    <a:pt x="185420" y="92710"/>
                  </a:cubicBezTo>
                  <a:cubicBezTo>
                    <a:pt x="185420" y="143891"/>
                    <a:pt x="143891" y="185420"/>
                    <a:pt x="92710" y="185420"/>
                  </a:cubicBezTo>
                  <a:cubicBezTo>
                    <a:pt x="41529" y="185420"/>
                    <a:pt x="0" y="144018"/>
                    <a:pt x="0" y="92710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886655" y="3435696"/>
            <a:ext cx="2321128" cy="29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Objectifs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86655" y="3789312"/>
            <a:ext cx="5663956" cy="26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Définir les résultats attendus.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791727" y="4476902"/>
            <a:ext cx="371323" cy="19050"/>
            <a:chOff x="0" y="0"/>
            <a:chExt cx="495097" cy="25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5046" cy="25400"/>
            </a:xfrm>
            <a:custGeom>
              <a:avLst/>
              <a:gdLst/>
              <a:ahLst/>
              <a:cxnLst/>
              <a:rect r="r" b="b" t="t" l="l"/>
              <a:pathLst>
                <a:path h="25400" w="495046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482346" y="0"/>
                  </a:lnTo>
                  <a:cubicBezTo>
                    <a:pt x="489331" y="0"/>
                    <a:pt x="495046" y="5715"/>
                    <a:pt x="495046" y="12700"/>
                  </a:cubicBezTo>
                  <a:cubicBezTo>
                    <a:pt x="495046" y="19685"/>
                    <a:pt x="489331" y="25400"/>
                    <a:pt x="48234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074420" y="4416847"/>
            <a:ext cx="139151" cy="139151"/>
            <a:chOff x="0" y="0"/>
            <a:chExt cx="185534" cy="1855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5420" cy="185420"/>
            </a:xfrm>
            <a:custGeom>
              <a:avLst/>
              <a:gdLst/>
              <a:ahLst/>
              <a:cxnLst/>
              <a:rect r="r" b="b" t="t" l="l"/>
              <a:pathLst>
                <a:path h="185420" w="18542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cubicBezTo>
                    <a:pt x="143891" y="0"/>
                    <a:pt x="185420" y="41529"/>
                    <a:pt x="185420" y="92710"/>
                  </a:cubicBezTo>
                  <a:cubicBezTo>
                    <a:pt x="185420" y="143891"/>
                    <a:pt x="143891" y="185420"/>
                    <a:pt x="92710" y="185420"/>
                  </a:cubicBezTo>
                  <a:cubicBezTo>
                    <a:pt x="41529" y="185420"/>
                    <a:pt x="0" y="144018"/>
                    <a:pt x="0" y="92710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080227" y="4331789"/>
            <a:ext cx="2321128" cy="29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9"/>
              </a:lnSpc>
            </a:pPr>
            <a:r>
              <a:rPr lang="en-US" sz="1812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Application réalisée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37399" y="4685405"/>
            <a:ext cx="5663956" cy="26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4"/>
              </a:lnSpc>
            </a:pPr>
            <a:r>
              <a:rPr lang="en-US" sz="143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Présenter la solution développée.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24950" y="5373138"/>
            <a:ext cx="371323" cy="19050"/>
            <a:chOff x="0" y="0"/>
            <a:chExt cx="495097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5046" cy="25400"/>
            </a:xfrm>
            <a:custGeom>
              <a:avLst/>
              <a:gdLst/>
              <a:ahLst/>
              <a:cxnLst/>
              <a:rect r="r" b="b" t="t" l="l"/>
              <a:pathLst>
                <a:path h="25400" w="495046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482346" y="0"/>
                  </a:lnTo>
                  <a:cubicBezTo>
                    <a:pt x="489331" y="0"/>
                    <a:pt x="495046" y="5715"/>
                    <a:pt x="495046" y="12700"/>
                  </a:cubicBezTo>
                  <a:cubicBezTo>
                    <a:pt x="495046" y="19685"/>
                    <a:pt x="489331" y="25400"/>
                    <a:pt x="48234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074420" y="5313093"/>
            <a:ext cx="139151" cy="139151"/>
            <a:chOff x="0" y="0"/>
            <a:chExt cx="185534" cy="1855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5420" cy="185420"/>
            </a:xfrm>
            <a:custGeom>
              <a:avLst/>
              <a:gdLst/>
              <a:ahLst/>
              <a:cxnLst/>
              <a:rect r="r" b="b" t="t" l="l"/>
              <a:pathLst>
                <a:path h="185420" w="18542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cubicBezTo>
                    <a:pt x="143891" y="0"/>
                    <a:pt x="185420" y="41529"/>
                    <a:pt x="185420" y="92710"/>
                  </a:cubicBezTo>
                  <a:cubicBezTo>
                    <a:pt x="185420" y="143891"/>
                    <a:pt x="143891" y="185420"/>
                    <a:pt x="92710" y="185420"/>
                  </a:cubicBezTo>
                  <a:cubicBezTo>
                    <a:pt x="41529" y="185420"/>
                    <a:pt x="0" y="144018"/>
                    <a:pt x="0" y="92710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886655" y="5228034"/>
            <a:ext cx="3815210" cy="29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Démarche de réalisation du projet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86655" y="5581650"/>
            <a:ext cx="5663956" cy="26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Structurer les étapes de conception et de développement.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791727" y="6269384"/>
            <a:ext cx="371323" cy="19050"/>
            <a:chOff x="0" y="0"/>
            <a:chExt cx="495097" cy="25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5046" cy="25400"/>
            </a:xfrm>
            <a:custGeom>
              <a:avLst/>
              <a:gdLst/>
              <a:ahLst/>
              <a:cxnLst/>
              <a:rect r="r" b="b" t="t" l="l"/>
              <a:pathLst>
                <a:path h="25400" w="495046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482346" y="0"/>
                  </a:lnTo>
                  <a:cubicBezTo>
                    <a:pt x="489331" y="0"/>
                    <a:pt x="495046" y="5715"/>
                    <a:pt x="495046" y="12700"/>
                  </a:cubicBezTo>
                  <a:cubicBezTo>
                    <a:pt x="495046" y="19685"/>
                    <a:pt x="489331" y="25400"/>
                    <a:pt x="48234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074420" y="6209328"/>
            <a:ext cx="139151" cy="139151"/>
            <a:chOff x="0" y="0"/>
            <a:chExt cx="185534" cy="18553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5420" cy="185420"/>
            </a:xfrm>
            <a:custGeom>
              <a:avLst/>
              <a:gdLst/>
              <a:ahLst/>
              <a:cxnLst/>
              <a:rect r="r" b="b" t="t" l="l"/>
              <a:pathLst>
                <a:path h="185420" w="18542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cubicBezTo>
                    <a:pt x="143891" y="0"/>
                    <a:pt x="185420" y="41529"/>
                    <a:pt x="185420" y="92710"/>
                  </a:cubicBezTo>
                  <a:cubicBezTo>
                    <a:pt x="185420" y="143891"/>
                    <a:pt x="143891" y="185420"/>
                    <a:pt x="92710" y="185420"/>
                  </a:cubicBezTo>
                  <a:cubicBezTo>
                    <a:pt x="41529" y="185420"/>
                    <a:pt x="0" y="144018"/>
                    <a:pt x="0" y="92710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5781523" y="6124280"/>
            <a:ext cx="2619823" cy="29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9"/>
              </a:lnSpc>
            </a:pPr>
            <a:r>
              <a:rPr lang="en-US" sz="1812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Mise en œuvre DevOps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737399" y="6477895"/>
            <a:ext cx="5663956" cy="26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4"/>
              </a:lnSpc>
            </a:pPr>
            <a:r>
              <a:rPr lang="en-US" sz="143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Automatiser le cycle de livraison.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124950" y="7165629"/>
            <a:ext cx="371323" cy="19050"/>
            <a:chOff x="0" y="0"/>
            <a:chExt cx="495097" cy="25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5046" cy="25400"/>
            </a:xfrm>
            <a:custGeom>
              <a:avLst/>
              <a:gdLst/>
              <a:ahLst/>
              <a:cxnLst/>
              <a:rect r="r" b="b" t="t" l="l"/>
              <a:pathLst>
                <a:path h="25400" w="495046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482346" y="0"/>
                  </a:lnTo>
                  <a:cubicBezTo>
                    <a:pt x="489331" y="0"/>
                    <a:pt x="495046" y="5715"/>
                    <a:pt x="495046" y="12700"/>
                  </a:cubicBezTo>
                  <a:cubicBezTo>
                    <a:pt x="495046" y="19685"/>
                    <a:pt x="489331" y="25400"/>
                    <a:pt x="48234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074420" y="7105574"/>
            <a:ext cx="139151" cy="139151"/>
            <a:chOff x="0" y="0"/>
            <a:chExt cx="185534" cy="1855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5420" cy="185420"/>
            </a:xfrm>
            <a:custGeom>
              <a:avLst/>
              <a:gdLst/>
              <a:ahLst/>
              <a:cxnLst/>
              <a:rect r="r" b="b" t="t" l="l"/>
              <a:pathLst>
                <a:path h="185420" w="18542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cubicBezTo>
                    <a:pt x="143891" y="0"/>
                    <a:pt x="185420" y="41529"/>
                    <a:pt x="185420" y="92710"/>
                  </a:cubicBezTo>
                  <a:cubicBezTo>
                    <a:pt x="185420" y="143891"/>
                    <a:pt x="143891" y="185420"/>
                    <a:pt x="92710" y="185420"/>
                  </a:cubicBezTo>
                  <a:cubicBezTo>
                    <a:pt x="41529" y="185420"/>
                    <a:pt x="0" y="144018"/>
                    <a:pt x="0" y="92710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886655" y="7020516"/>
            <a:ext cx="2321128" cy="29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Résultats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886655" y="7374141"/>
            <a:ext cx="5663956" cy="26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Mesurer l’impact obtenu.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791727" y="8061874"/>
            <a:ext cx="371323" cy="19050"/>
            <a:chOff x="0" y="0"/>
            <a:chExt cx="495097" cy="25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95046" cy="25400"/>
            </a:xfrm>
            <a:custGeom>
              <a:avLst/>
              <a:gdLst/>
              <a:ahLst/>
              <a:cxnLst/>
              <a:rect r="r" b="b" t="t" l="l"/>
              <a:pathLst>
                <a:path h="25400" w="495046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482346" y="0"/>
                  </a:lnTo>
                  <a:cubicBezTo>
                    <a:pt x="489331" y="0"/>
                    <a:pt x="495046" y="5715"/>
                    <a:pt x="495046" y="12700"/>
                  </a:cubicBezTo>
                  <a:cubicBezTo>
                    <a:pt x="495046" y="19685"/>
                    <a:pt x="489331" y="25400"/>
                    <a:pt x="48234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074420" y="8001819"/>
            <a:ext cx="139151" cy="139151"/>
            <a:chOff x="0" y="0"/>
            <a:chExt cx="185534" cy="18553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5420" cy="185420"/>
            </a:xfrm>
            <a:custGeom>
              <a:avLst/>
              <a:gdLst/>
              <a:ahLst/>
              <a:cxnLst/>
              <a:rect r="r" b="b" t="t" l="l"/>
              <a:pathLst>
                <a:path h="185420" w="18542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cubicBezTo>
                    <a:pt x="143891" y="0"/>
                    <a:pt x="185420" y="41529"/>
                    <a:pt x="185420" y="92710"/>
                  </a:cubicBezTo>
                  <a:cubicBezTo>
                    <a:pt x="185420" y="143891"/>
                    <a:pt x="143891" y="185420"/>
                    <a:pt x="92710" y="185420"/>
                  </a:cubicBezTo>
                  <a:cubicBezTo>
                    <a:pt x="41529" y="185420"/>
                    <a:pt x="0" y="144018"/>
                    <a:pt x="0" y="92710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6080227" y="7916761"/>
            <a:ext cx="2321128" cy="29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9"/>
              </a:lnSpc>
            </a:pPr>
            <a:r>
              <a:rPr lang="en-US" sz="1812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Conclusion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737399" y="8270377"/>
            <a:ext cx="5663956" cy="26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4"/>
              </a:lnSpc>
            </a:pPr>
            <a:r>
              <a:rPr lang="en-US" sz="143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Retenir les points essentiels.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317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3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338978"/>
            <a:ext cx="9093698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2D4BA"/>
                </a:solidFill>
                <a:latin typeface="Prata"/>
                <a:ea typeface="Prata"/>
                <a:cs typeface="Prata"/>
                <a:sym typeface="Prata"/>
              </a:rPr>
              <a:t>Contexte et problématique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811038"/>
            <a:ext cx="3863130" cy="4117924"/>
            <a:chOff x="0" y="0"/>
            <a:chExt cx="5150841" cy="54905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50866" cy="5490718"/>
            </a:xfrm>
            <a:custGeom>
              <a:avLst/>
              <a:gdLst/>
              <a:ahLst/>
              <a:cxnLst/>
              <a:rect r="r" b="b" t="t" l="l"/>
              <a:pathLst>
                <a:path h="5490718" w="5150866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097" y="0"/>
                  </a:lnTo>
                  <a:cubicBezTo>
                    <a:pt x="5125466" y="0"/>
                    <a:pt x="5150866" y="25400"/>
                    <a:pt x="5150866" y="56769"/>
                  </a:cubicBezTo>
                  <a:lnTo>
                    <a:pt x="5150866" y="5433949"/>
                  </a:lnTo>
                  <a:cubicBezTo>
                    <a:pt x="5150866" y="5465318"/>
                    <a:pt x="5125466" y="5490718"/>
                    <a:pt x="5094097" y="5490718"/>
                  </a:cubicBezTo>
                  <a:lnTo>
                    <a:pt x="56769" y="5490718"/>
                  </a:lnTo>
                  <a:cubicBezTo>
                    <a:pt x="25400" y="5490718"/>
                    <a:pt x="0" y="5465318"/>
                    <a:pt x="0" y="5433949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75759" y="4094559"/>
            <a:ext cx="850554" cy="850554"/>
            <a:chOff x="0" y="0"/>
            <a:chExt cx="1134072" cy="1134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509712" y="432837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5759" y="5209584"/>
            <a:ext cx="3296098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Déploiement manuel complexe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759" y="6179791"/>
            <a:ext cx="3296098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Processus long, répétitif et difficile à coordonner.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138890" y="3811038"/>
            <a:ext cx="3863283" cy="4117924"/>
            <a:chOff x="0" y="0"/>
            <a:chExt cx="5151044" cy="54905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51120" cy="5490718"/>
            </a:xfrm>
            <a:custGeom>
              <a:avLst/>
              <a:gdLst/>
              <a:ahLst/>
              <a:cxnLst/>
              <a:rect r="r" b="b" t="t" l="l"/>
              <a:pathLst>
                <a:path h="5490718" w="515112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351" y="0"/>
                  </a:lnTo>
                  <a:cubicBezTo>
                    <a:pt x="5125720" y="0"/>
                    <a:pt x="5151120" y="25400"/>
                    <a:pt x="5151120" y="56769"/>
                  </a:cubicBezTo>
                  <a:lnTo>
                    <a:pt x="5151120" y="5433949"/>
                  </a:lnTo>
                  <a:cubicBezTo>
                    <a:pt x="5151120" y="5465318"/>
                    <a:pt x="5125720" y="5490718"/>
                    <a:pt x="5094351" y="5490718"/>
                  </a:cubicBezTo>
                  <a:lnTo>
                    <a:pt x="56769" y="5490718"/>
                  </a:lnTo>
                  <a:cubicBezTo>
                    <a:pt x="25400" y="5490718"/>
                    <a:pt x="0" y="5465318"/>
                    <a:pt x="0" y="5433949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22402" y="4094559"/>
            <a:ext cx="850554" cy="850554"/>
            <a:chOff x="0" y="0"/>
            <a:chExt cx="1134072" cy="1134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5656364" y="432837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422402" y="5209584"/>
            <a:ext cx="3296241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Manque d'automatisation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22402" y="6179791"/>
            <a:ext cx="3296241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Chaque étape nécessite des interventions manuelles.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85684" y="3811038"/>
            <a:ext cx="3863283" cy="4117924"/>
            <a:chOff x="0" y="0"/>
            <a:chExt cx="5151044" cy="54905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51120" cy="5490718"/>
            </a:xfrm>
            <a:custGeom>
              <a:avLst/>
              <a:gdLst/>
              <a:ahLst/>
              <a:cxnLst/>
              <a:rect r="r" b="b" t="t" l="l"/>
              <a:pathLst>
                <a:path h="5490718" w="515112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351" y="0"/>
                  </a:lnTo>
                  <a:cubicBezTo>
                    <a:pt x="5125720" y="0"/>
                    <a:pt x="5151120" y="25400"/>
                    <a:pt x="5151120" y="56769"/>
                  </a:cubicBezTo>
                  <a:lnTo>
                    <a:pt x="5151120" y="5433949"/>
                  </a:lnTo>
                  <a:cubicBezTo>
                    <a:pt x="5151120" y="5465318"/>
                    <a:pt x="5125720" y="5490718"/>
                    <a:pt x="5094351" y="5490718"/>
                  </a:cubicBezTo>
                  <a:lnTo>
                    <a:pt x="56769" y="5490718"/>
                  </a:lnTo>
                  <a:cubicBezTo>
                    <a:pt x="25400" y="5490718"/>
                    <a:pt x="0" y="5465318"/>
                    <a:pt x="0" y="5433949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69206" y="4094559"/>
            <a:ext cx="850554" cy="850554"/>
            <a:chOff x="0" y="0"/>
            <a:chExt cx="1134072" cy="1134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9803159" y="432837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569206" y="5209584"/>
            <a:ext cx="3296241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Difficulté de reproductibilité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69206" y="6179791"/>
            <a:ext cx="3296241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Les déploiements ne se répètent pas toujours à l'identique.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432479" y="3811038"/>
            <a:ext cx="3863283" cy="4117924"/>
            <a:chOff x="0" y="0"/>
            <a:chExt cx="5151044" cy="54905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51120" cy="5490718"/>
            </a:xfrm>
            <a:custGeom>
              <a:avLst/>
              <a:gdLst/>
              <a:ahLst/>
              <a:cxnLst/>
              <a:rect r="r" b="b" t="t" l="l"/>
              <a:pathLst>
                <a:path h="5490718" w="515112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351" y="0"/>
                  </a:lnTo>
                  <a:cubicBezTo>
                    <a:pt x="5125720" y="0"/>
                    <a:pt x="5151120" y="25400"/>
                    <a:pt x="5151120" y="56769"/>
                  </a:cubicBezTo>
                  <a:lnTo>
                    <a:pt x="5151120" y="5433949"/>
                  </a:lnTo>
                  <a:cubicBezTo>
                    <a:pt x="5151120" y="5465318"/>
                    <a:pt x="5125720" y="5490718"/>
                    <a:pt x="5094351" y="5490718"/>
                  </a:cubicBezTo>
                  <a:lnTo>
                    <a:pt x="56769" y="5490718"/>
                  </a:lnTo>
                  <a:cubicBezTo>
                    <a:pt x="25400" y="5490718"/>
                    <a:pt x="0" y="5465318"/>
                    <a:pt x="0" y="5433949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716000" y="4094559"/>
            <a:ext cx="850554" cy="850554"/>
            <a:chOff x="0" y="0"/>
            <a:chExt cx="1134072" cy="1134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13949953" y="432837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879" t="0" r="-4876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3716000" y="5209584"/>
            <a:ext cx="3296241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Risques d'erreurs humaines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16000" y="6179791"/>
            <a:ext cx="3296241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Les manipulations manuelles augmentent les incidents.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317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3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38275" y="835371"/>
            <a:ext cx="5583736" cy="71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>
                <a:solidFill>
                  <a:srgbClr val="F2D4BA"/>
                </a:solidFill>
                <a:latin typeface="Prata"/>
                <a:ea typeface="Prata"/>
                <a:cs typeface="Prata"/>
                <a:sym typeface="Prata"/>
              </a:rPr>
              <a:t>Objectifs du projet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73288" y="3132687"/>
            <a:ext cx="3385690" cy="223247"/>
            <a:chOff x="0" y="0"/>
            <a:chExt cx="4514253" cy="2976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14342" cy="297688"/>
            </a:xfrm>
            <a:custGeom>
              <a:avLst/>
              <a:gdLst/>
              <a:ahLst/>
              <a:cxnLst/>
              <a:rect r="r" b="b" t="t" l="l"/>
              <a:pathLst>
                <a:path h="297688" w="4514342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4469638" y="0"/>
                  </a:lnTo>
                  <a:cubicBezTo>
                    <a:pt x="4494276" y="0"/>
                    <a:pt x="4514342" y="19939"/>
                    <a:pt x="4514342" y="44704"/>
                  </a:cubicBezTo>
                  <a:lnTo>
                    <a:pt x="4514342" y="252984"/>
                  </a:lnTo>
                  <a:cubicBezTo>
                    <a:pt x="4514342" y="277622"/>
                    <a:pt x="4494403" y="297688"/>
                    <a:pt x="4469638" y="297688"/>
                  </a:cubicBezTo>
                  <a:lnTo>
                    <a:pt x="44704" y="297688"/>
                  </a:lnTo>
                  <a:cubicBezTo>
                    <a:pt x="19939" y="297688"/>
                    <a:pt x="0" y="277622"/>
                    <a:pt x="0" y="252984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38275" y="2909297"/>
            <a:ext cx="670027" cy="670027"/>
            <a:chOff x="0" y="0"/>
            <a:chExt cx="893369" cy="8933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318" cy="893318"/>
            </a:xfrm>
            <a:custGeom>
              <a:avLst/>
              <a:gdLst/>
              <a:ahLst/>
              <a:cxnLst/>
              <a:rect r="r" b="b" t="t" l="l"/>
              <a:pathLst>
                <a:path h="893318" w="893318">
                  <a:moveTo>
                    <a:pt x="0" y="446659"/>
                  </a:moveTo>
                  <a:cubicBezTo>
                    <a:pt x="0" y="200025"/>
                    <a:pt x="200025" y="0"/>
                    <a:pt x="446659" y="0"/>
                  </a:cubicBezTo>
                  <a:cubicBezTo>
                    <a:pt x="693293" y="0"/>
                    <a:pt x="893318" y="200025"/>
                    <a:pt x="893318" y="446659"/>
                  </a:cubicBezTo>
                  <a:cubicBezTo>
                    <a:pt x="893318" y="693293"/>
                    <a:pt x="693420" y="893318"/>
                    <a:pt x="446659" y="893318"/>
                  </a:cubicBezTo>
                  <a:cubicBezTo>
                    <a:pt x="199898" y="893318"/>
                    <a:pt x="0" y="693420"/>
                    <a:pt x="0" y="446659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605705" y="3076870"/>
            <a:ext cx="335013" cy="335013"/>
          </a:xfrm>
          <a:custGeom>
            <a:avLst/>
            <a:gdLst/>
            <a:ahLst/>
            <a:cxnLst/>
            <a:rect r="r" b="b" t="t" l="l"/>
            <a:pathLst>
              <a:path h="335013" w="335013">
                <a:moveTo>
                  <a:pt x="0" y="0"/>
                </a:moveTo>
                <a:lnTo>
                  <a:pt x="335014" y="0"/>
                </a:lnTo>
                <a:lnTo>
                  <a:pt x="335014" y="335014"/>
                </a:lnTo>
                <a:lnTo>
                  <a:pt x="0" y="3350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61522" y="3745706"/>
            <a:ext cx="3274371" cy="70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Automatiser le déploiement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1522" y="4501601"/>
            <a:ext cx="3274371" cy="101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Réduire les actions manuelles et fiabiliser les mises en production.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670052" y="2797673"/>
            <a:ext cx="3385690" cy="223247"/>
            <a:chOff x="0" y="0"/>
            <a:chExt cx="4514253" cy="2976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14342" cy="297688"/>
            </a:xfrm>
            <a:custGeom>
              <a:avLst/>
              <a:gdLst/>
              <a:ahLst/>
              <a:cxnLst/>
              <a:rect r="r" b="b" t="t" l="l"/>
              <a:pathLst>
                <a:path h="297688" w="4514342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4469638" y="0"/>
                  </a:lnTo>
                  <a:cubicBezTo>
                    <a:pt x="4494276" y="0"/>
                    <a:pt x="4514342" y="19939"/>
                    <a:pt x="4514342" y="44704"/>
                  </a:cubicBezTo>
                  <a:lnTo>
                    <a:pt x="4514342" y="252984"/>
                  </a:lnTo>
                  <a:cubicBezTo>
                    <a:pt x="4514342" y="277622"/>
                    <a:pt x="4494403" y="297688"/>
                    <a:pt x="4469638" y="297688"/>
                  </a:cubicBezTo>
                  <a:lnTo>
                    <a:pt x="44704" y="297688"/>
                  </a:lnTo>
                  <a:cubicBezTo>
                    <a:pt x="19939" y="297688"/>
                    <a:pt x="0" y="277622"/>
                    <a:pt x="0" y="252984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335038" y="2574284"/>
            <a:ext cx="670027" cy="670027"/>
            <a:chOff x="0" y="0"/>
            <a:chExt cx="893369" cy="8933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3318" cy="893318"/>
            </a:xfrm>
            <a:custGeom>
              <a:avLst/>
              <a:gdLst/>
              <a:ahLst/>
              <a:cxnLst/>
              <a:rect r="r" b="b" t="t" l="l"/>
              <a:pathLst>
                <a:path h="893318" w="893318">
                  <a:moveTo>
                    <a:pt x="0" y="446659"/>
                  </a:moveTo>
                  <a:cubicBezTo>
                    <a:pt x="0" y="200025"/>
                    <a:pt x="200025" y="0"/>
                    <a:pt x="446659" y="0"/>
                  </a:cubicBezTo>
                  <a:cubicBezTo>
                    <a:pt x="693293" y="0"/>
                    <a:pt x="893318" y="200025"/>
                    <a:pt x="893318" y="446659"/>
                  </a:cubicBezTo>
                  <a:cubicBezTo>
                    <a:pt x="893318" y="693293"/>
                    <a:pt x="693420" y="893318"/>
                    <a:pt x="446659" y="893318"/>
                  </a:cubicBezTo>
                  <a:cubicBezTo>
                    <a:pt x="199898" y="893318"/>
                    <a:pt x="0" y="693420"/>
                    <a:pt x="0" y="446659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5502478" y="2741857"/>
            <a:ext cx="335013" cy="335013"/>
          </a:xfrm>
          <a:custGeom>
            <a:avLst/>
            <a:gdLst/>
            <a:ahLst/>
            <a:cxnLst/>
            <a:rect r="r" b="b" t="t" l="l"/>
            <a:pathLst>
              <a:path h="335013" w="335013">
                <a:moveTo>
                  <a:pt x="0" y="0"/>
                </a:moveTo>
                <a:lnTo>
                  <a:pt x="335014" y="0"/>
                </a:lnTo>
                <a:lnTo>
                  <a:pt x="335014" y="335013"/>
                </a:lnTo>
                <a:lnTo>
                  <a:pt x="0" y="3350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558285" y="3410693"/>
            <a:ext cx="2791863" cy="358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Chaîne CI/CD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58285" y="3817591"/>
            <a:ext cx="3274371" cy="69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Mettre en place un pipeline fluide et reproductible.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566824" y="2462660"/>
            <a:ext cx="3385690" cy="223247"/>
            <a:chOff x="0" y="0"/>
            <a:chExt cx="4514253" cy="2976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14342" cy="297688"/>
            </a:xfrm>
            <a:custGeom>
              <a:avLst/>
              <a:gdLst/>
              <a:ahLst/>
              <a:cxnLst/>
              <a:rect r="r" b="b" t="t" l="l"/>
              <a:pathLst>
                <a:path h="297688" w="4514342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4469638" y="0"/>
                  </a:lnTo>
                  <a:cubicBezTo>
                    <a:pt x="4494276" y="0"/>
                    <a:pt x="4514342" y="19939"/>
                    <a:pt x="4514342" y="44704"/>
                  </a:cubicBezTo>
                  <a:lnTo>
                    <a:pt x="4514342" y="252984"/>
                  </a:lnTo>
                  <a:cubicBezTo>
                    <a:pt x="4514342" y="277622"/>
                    <a:pt x="4494403" y="297688"/>
                    <a:pt x="4469638" y="297688"/>
                  </a:cubicBezTo>
                  <a:lnTo>
                    <a:pt x="44704" y="297688"/>
                  </a:lnTo>
                  <a:cubicBezTo>
                    <a:pt x="19939" y="297688"/>
                    <a:pt x="0" y="277622"/>
                    <a:pt x="0" y="252984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231811" y="2239270"/>
            <a:ext cx="670027" cy="670027"/>
            <a:chOff x="0" y="0"/>
            <a:chExt cx="893369" cy="8933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3318" cy="893318"/>
            </a:xfrm>
            <a:custGeom>
              <a:avLst/>
              <a:gdLst/>
              <a:ahLst/>
              <a:cxnLst/>
              <a:rect r="r" b="b" t="t" l="l"/>
              <a:pathLst>
                <a:path h="893318" w="893318">
                  <a:moveTo>
                    <a:pt x="0" y="446659"/>
                  </a:moveTo>
                  <a:cubicBezTo>
                    <a:pt x="0" y="200025"/>
                    <a:pt x="200025" y="0"/>
                    <a:pt x="446659" y="0"/>
                  </a:cubicBezTo>
                  <a:cubicBezTo>
                    <a:pt x="693293" y="0"/>
                    <a:pt x="893318" y="200025"/>
                    <a:pt x="893318" y="446659"/>
                  </a:cubicBezTo>
                  <a:cubicBezTo>
                    <a:pt x="893318" y="693293"/>
                    <a:pt x="693420" y="893318"/>
                    <a:pt x="446659" y="893318"/>
                  </a:cubicBezTo>
                  <a:cubicBezTo>
                    <a:pt x="199898" y="893318"/>
                    <a:pt x="0" y="693420"/>
                    <a:pt x="0" y="446659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9399241" y="2406853"/>
            <a:ext cx="335013" cy="335013"/>
          </a:xfrm>
          <a:custGeom>
            <a:avLst/>
            <a:gdLst/>
            <a:ahLst/>
            <a:cxnLst/>
            <a:rect r="r" b="b" t="t" l="l"/>
            <a:pathLst>
              <a:path h="335013" w="335013">
                <a:moveTo>
                  <a:pt x="0" y="0"/>
                </a:moveTo>
                <a:lnTo>
                  <a:pt x="335014" y="0"/>
                </a:lnTo>
                <a:lnTo>
                  <a:pt x="335014" y="335013"/>
                </a:lnTo>
                <a:lnTo>
                  <a:pt x="0" y="3350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555" t="0" r="-5555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455048" y="3075680"/>
            <a:ext cx="3274371" cy="70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Déployer sur Kubernetes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55048" y="3831584"/>
            <a:ext cx="3274371" cy="69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Orchestrer les services dans un environnement moderne.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463588" y="2127647"/>
            <a:ext cx="3385842" cy="223247"/>
            <a:chOff x="0" y="0"/>
            <a:chExt cx="4514456" cy="2976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14469" cy="297688"/>
            </a:xfrm>
            <a:custGeom>
              <a:avLst/>
              <a:gdLst/>
              <a:ahLst/>
              <a:cxnLst/>
              <a:rect r="r" b="b" t="t" l="l"/>
              <a:pathLst>
                <a:path h="297688" w="4514469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4469765" y="0"/>
                  </a:lnTo>
                  <a:cubicBezTo>
                    <a:pt x="4494403" y="0"/>
                    <a:pt x="4514469" y="19939"/>
                    <a:pt x="4514469" y="44704"/>
                  </a:cubicBezTo>
                  <a:lnTo>
                    <a:pt x="4514469" y="252984"/>
                  </a:lnTo>
                  <a:cubicBezTo>
                    <a:pt x="4514469" y="277622"/>
                    <a:pt x="4494530" y="297688"/>
                    <a:pt x="4469765" y="297688"/>
                  </a:cubicBezTo>
                  <a:lnTo>
                    <a:pt x="44704" y="297688"/>
                  </a:lnTo>
                  <a:cubicBezTo>
                    <a:pt x="19939" y="297688"/>
                    <a:pt x="0" y="277622"/>
                    <a:pt x="0" y="252984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128574" y="1904257"/>
            <a:ext cx="670027" cy="670027"/>
            <a:chOff x="0" y="0"/>
            <a:chExt cx="893369" cy="8933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3318" cy="893318"/>
            </a:xfrm>
            <a:custGeom>
              <a:avLst/>
              <a:gdLst/>
              <a:ahLst/>
              <a:cxnLst/>
              <a:rect r="r" b="b" t="t" l="l"/>
              <a:pathLst>
                <a:path h="893318" w="893318">
                  <a:moveTo>
                    <a:pt x="0" y="446659"/>
                  </a:moveTo>
                  <a:cubicBezTo>
                    <a:pt x="0" y="200025"/>
                    <a:pt x="200025" y="0"/>
                    <a:pt x="446659" y="0"/>
                  </a:cubicBezTo>
                  <a:cubicBezTo>
                    <a:pt x="693293" y="0"/>
                    <a:pt x="893318" y="200025"/>
                    <a:pt x="893318" y="446659"/>
                  </a:cubicBezTo>
                  <a:cubicBezTo>
                    <a:pt x="893318" y="693293"/>
                    <a:pt x="693420" y="893318"/>
                    <a:pt x="446659" y="893318"/>
                  </a:cubicBezTo>
                  <a:cubicBezTo>
                    <a:pt x="199898" y="893318"/>
                    <a:pt x="0" y="693420"/>
                    <a:pt x="0" y="446659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13296005" y="2071840"/>
            <a:ext cx="335013" cy="335013"/>
          </a:xfrm>
          <a:custGeom>
            <a:avLst/>
            <a:gdLst/>
            <a:ahLst/>
            <a:cxnLst/>
            <a:rect r="r" b="b" t="t" l="l"/>
            <a:pathLst>
              <a:path h="335013" w="335013">
                <a:moveTo>
                  <a:pt x="0" y="0"/>
                </a:moveTo>
                <a:lnTo>
                  <a:pt x="335013" y="0"/>
                </a:lnTo>
                <a:lnTo>
                  <a:pt x="335013" y="335013"/>
                </a:lnTo>
                <a:lnTo>
                  <a:pt x="0" y="3350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8054" t="0" r="-18056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3351821" y="2740666"/>
            <a:ext cx="3274514" cy="70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Infrastructure cloud reproductible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51821" y="3496570"/>
            <a:ext cx="3274514" cy="69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Construire une base cohérente, versionnée et réutilisable.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773288" y="7144493"/>
            <a:ext cx="3385690" cy="223247"/>
            <a:chOff x="0" y="0"/>
            <a:chExt cx="4514253" cy="2976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14342" cy="297688"/>
            </a:xfrm>
            <a:custGeom>
              <a:avLst/>
              <a:gdLst/>
              <a:ahLst/>
              <a:cxnLst/>
              <a:rect r="r" b="b" t="t" l="l"/>
              <a:pathLst>
                <a:path h="297688" w="4514342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4469638" y="0"/>
                  </a:lnTo>
                  <a:cubicBezTo>
                    <a:pt x="4494276" y="0"/>
                    <a:pt x="4514342" y="19939"/>
                    <a:pt x="4514342" y="44704"/>
                  </a:cubicBezTo>
                  <a:lnTo>
                    <a:pt x="4514342" y="252984"/>
                  </a:lnTo>
                  <a:cubicBezTo>
                    <a:pt x="4514342" y="277622"/>
                    <a:pt x="4494403" y="297688"/>
                    <a:pt x="4469638" y="297688"/>
                  </a:cubicBezTo>
                  <a:lnTo>
                    <a:pt x="44704" y="297688"/>
                  </a:lnTo>
                  <a:cubicBezTo>
                    <a:pt x="19939" y="297688"/>
                    <a:pt x="0" y="277622"/>
                    <a:pt x="0" y="252984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38275" y="6921103"/>
            <a:ext cx="670027" cy="670027"/>
            <a:chOff x="0" y="0"/>
            <a:chExt cx="893369" cy="89336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3318" cy="893318"/>
            </a:xfrm>
            <a:custGeom>
              <a:avLst/>
              <a:gdLst/>
              <a:ahLst/>
              <a:cxnLst/>
              <a:rect r="r" b="b" t="t" l="l"/>
              <a:pathLst>
                <a:path h="893318" w="893318">
                  <a:moveTo>
                    <a:pt x="0" y="446659"/>
                  </a:moveTo>
                  <a:cubicBezTo>
                    <a:pt x="0" y="200025"/>
                    <a:pt x="200025" y="0"/>
                    <a:pt x="446659" y="0"/>
                  </a:cubicBezTo>
                  <a:cubicBezTo>
                    <a:pt x="693293" y="0"/>
                    <a:pt x="893318" y="200025"/>
                    <a:pt x="893318" y="446659"/>
                  </a:cubicBezTo>
                  <a:cubicBezTo>
                    <a:pt x="893318" y="693293"/>
                    <a:pt x="693420" y="893318"/>
                    <a:pt x="446659" y="893318"/>
                  </a:cubicBezTo>
                  <a:cubicBezTo>
                    <a:pt x="199898" y="893318"/>
                    <a:pt x="0" y="693420"/>
                    <a:pt x="0" y="446659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sp>
        <p:nvSpPr>
          <p:cNvPr name="Freeform 39" id="39" descr="preencoded.png"/>
          <p:cNvSpPr/>
          <p:nvPr/>
        </p:nvSpPr>
        <p:spPr>
          <a:xfrm flipH="false" flipV="false" rot="0">
            <a:off x="1605705" y="7088686"/>
            <a:ext cx="335013" cy="335013"/>
          </a:xfrm>
          <a:custGeom>
            <a:avLst/>
            <a:gdLst/>
            <a:ahLst/>
            <a:cxnLst/>
            <a:rect r="r" b="b" t="t" l="l"/>
            <a:pathLst>
              <a:path h="335013" w="335013">
                <a:moveTo>
                  <a:pt x="0" y="0"/>
                </a:moveTo>
                <a:lnTo>
                  <a:pt x="335014" y="0"/>
                </a:lnTo>
                <a:lnTo>
                  <a:pt x="335014" y="335013"/>
                </a:lnTo>
                <a:lnTo>
                  <a:pt x="0" y="3350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2777" t="0" r="-2777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661522" y="7757522"/>
            <a:ext cx="3274371" cy="70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Valider avec une application réelle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61522" y="8513416"/>
            <a:ext cx="3274371" cy="69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Tester la solution sur un cas concret.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317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3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935186"/>
            <a:ext cx="7088238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2D4BA"/>
                </a:solidFill>
                <a:latin typeface="Prata"/>
                <a:ea typeface="Prata"/>
                <a:cs typeface="Prata"/>
                <a:sym typeface="Prata"/>
              </a:rPr>
              <a:t>Application réalisée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302471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Application web SoundWave créée comme support du projet DevOps.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3188" y="5160759"/>
            <a:ext cx="5283546" cy="2190902"/>
            <a:chOff x="0" y="0"/>
            <a:chExt cx="7044728" cy="29212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6993890" cy="2870454"/>
            </a:xfrm>
            <a:custGeom>
              <a:avLst/>
              <a:gdLst/>
              <a:ahLst/>
              <a:cxnLst/>
              <a:rect r="r" b="b" t="t" l="l"/>
              <a:pathLst>
                <a:path h="2870454" w="6993890">
                  <a:moveTo>
                    <a:pt x="0" y="243840"/>
                  </a:moveTo>
                  <a:cubicBezTo>
                    <a:pt x="0" y="109220"/>
                    <a:pt x="110363" y="0"/>
                    <a:pt x="246380" y="0"/>
                  </a:cubicBezTo>
                  <a:lnTo>
                    <a:pt x="6747510" y="0"/>
                  </a:lnTo>
                  <a:cubicBezTo>
                    <a:pt x="6883527" y="0"/>
                    <a:pt x="6993890" y="109220"/>
                    <a:pt x="6993890" y="243840"/>
                  </a:cubicBezTo>
                  <a:lnTo>
                    <a:pt x="6993890" y="2626614"/>
                  </a:lnTo>
                  <a:cubicBezTo>
                    <a:pt x="6993890" y="2761234"/>
                    <a:pt x="6883527" y="2870454"/>
                    <a:pt x="6747510" y="2870454"/>
                  </a:cubicBezTo>
                  <a:lnTo>
                    <a:pt x="246380" y="2870454"/>
                  </a:lnTo>
                  <a:cubicBezTo>
                    <a:pt x="110363" y="2870454"/>
                    <a:pt x="0" y="2761234"/>
                    <a:pt x="0" y="2626614"/>
                  </a:cubicBezTo>
                  <a:close/>
                </a:path>
              </a:pathLst>
            </a:custGeom>
            <a:solidFill>
              <a:srgbClr val="21232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44690" cy="2921254"/>
            </a:xfrm>
            <a:custGeom>
              <a:avLst/>
              <a:gdLst/>
              <a:ahLst/>
              <a:cxnLst/>
              <a:rect r="r" b="b" t="t" l="l"/>
              <a:pathLst>
                <a:path h="2921254" w="7044690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772910" y="0"/>
                  </a:lnTo>
                  <a:lnTo>
                    <a:pt x="6772910" y="25400"/>
                  </a:lnTo>
                  <a:lnTo>
                    <a:pt x="6772910" y="0"/>
                  </a:lnTo>
                  <a:cubicBezTo>
                    <a:pt x="6922770" y="0"/>
                    <a:pt x="7044690" y="120269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2652014"/>
                  </a:lnTo>
                  <a:lnTo>
                    <a:pt x="7019290" y="2652014"/>
                  </a:lnTo>
                  <a:lnTo>
                    <a:pt x="7044690" y="2652014"/>
                  </a:lnTo>
                  <a:cubicBezTo>
                    <a:pt x="7044690" y="2800985"/>
                    <a:pt x="6922770" y="2921254"/>
                    <a:pt x="6772910" y="2921254"/>
                  </a:cubicBezTo>
                  <a:lnTo>
                    <a:pt x="6772910" y="2895854"/>
                  </a:lnTo>
                  <a:lnTo>
                    <a:pt x="6772910" y="2921254"/>
                  </a:lnTo>
                  <a:lnTo>
                    <a:pt x="271780" y="2921254"/>
                  </a:lnTo>
                  <a:lnTo>
                    <a:pt x="271780" y="2895854"/>
                  </a:lnTo>
                  <a:lnTo>
                    <a:pt x="271780" y="2921254"/>
                  </a:lnTo>
                  <a:cubicBezTo>
                    <a:pt x="121920" y="2921254"/>
                    <a:pt x="0" y="2800985"/>
                    <a:pt x="0" y="265201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52014"/>
                  </a:lnTo>
                  <a:lnTo>
                    <a:pt x="25400" y="2652014"/>
                  </a:lnTo>
                  <a:lnTo>
                    <a:pt x="50800" y="2652014"/>
                  </a:lnTo>
                  <a:cubicBezTo>
                    <a:pt x="50800" y="2772410"/>
                    <a:pt x="149479" y="2870454"/>
                    <a:pt x="271780" y="2870454"/>
                  </a:cubicBezTo>
                  <a:lnTo>
                    <a:pt x="6772910" y="2870454"/>
                  </a:lnTo>
                  <a:cubicBezTo>
                    <a:pt x="6895211" y="2870454"/>
                    <a:pt x="6993890" y="2772410"/>
                    <a:pt x="6993890" y="2652014"/>
                  </a:cubicBezTo>
                  <a:lnTo>
                    <a:pt x="6993890" y="269240"/>
                  </a:lnTo>
                  <a:cubicBezTo>
                    <a:pt x="6993890" y="148844"/>
                    <a:pt x="6895211" y="50800"/>
                    <a:pt x="6772910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4138" y="5179809"/>
            <a:ext cx="152400" cy="2152802"/>
            <a:chOff x="0" y="0"/>
            <a:chExt cx="203200" cy="28704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200" cy="2870454"/>
            </a:xfrm>
            <a:custGeom>
              <a:avLst/>
              <a:gdLst/>
              <a:ahLst/>
              <a:cxnLst/>
              <a:rect r="r" b="b" t="t" l="l"/>
              <a:pathLst>
                <a:path h="2870454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813685"/>
                  </a:lnTo>
                  <a:cubicBezTo>
                    <a:pt x="203200" y="2845054"/>
                    <a:pt x="177800" y="2870454"/>
                    <a:pt x="146431" y="2870454"/>
                  </a:cubicBezTo>
                  <a:lnTo>
                    <a:pt x="56769" y="2870454"/>
                  </a:lnTo>
                  <a:cubicBezTo>
                    <a:pt x="25400" y="2870454"/>
                    <a:pt x="0" y="2845054"/>
                    <a:pt x="0" y="2813685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28159" y="548238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Interface utilisateur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8159" y="6009684"/>
            <a:ext cx="448791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Réactive et simple.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02156" y="5160759"/>
            <a:ext cx="5283546" cy="2190902"/>
            <a:chOff x="0" y="0"/>
            <a:chExt cx="7044728" cy="29212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6993890" cy="2870454"/>
            </a:xfrm>
            <a:custGeom>
              <a:avLst/>
              <a:gdLst/>
              <a:ahLst/>
              <a:cxnLst/>
              <a:rect r="r" b="b" t="t" l="l"/>
              <a:pathLst>
                <a:path h="2870454" w="6993890">
                  <a:moveTo>
                    <a:pt x="0" y="243840"/>
                  </a:moveTo>
                  <a:cubicBezTo>
                    <a:pt x="0" y="109220"/>
                    <a:pt x="110363" y="0"/>
                    <a:pt x="246380" y="0"/>
                  </a:cubicBezTo>
                  <a:lnTo>
                    <a:pt x="6747510" y="0"/>
                  </a:lnTo>
                  <a:cubicBezTo>
                    <a:pt x="6883527" y="0"/>
                    <a:pt x="6993890" y="109220"/>
                    <a:pt x="6993890" y="243840"/>
                  </a:cubicBezTo>
                  <a:lnTo>
                    <a:pt x="6993890" y="2626614"/>
                  </a:lnTo>
                  <a:cubicBezTo>
                    <a:pt x="6993890" y="2761234"/>
                    <a:pt x="6883527" y="2870454"/>
                    <a:pt x="6747510" y="2870454"/>
                  </a:cubicBezTo>
                  <a:lnTo>
                    <a:pt x="246380" y="2870454"/>
                  </a:lnTo>
                  <a:cubicBezTo>
                    <a:pt x="110363" y="2870454"/>
                    <a:pt x="0" y="2761234"/>
                    <a:pt x="0" y="2626614"/>
                  </a:cubicBezTo>
                  <a:close/>
                </a:path>
              </a:pathLst>
            </a:custGeom>
            <a:solidFill>
              <a:srgbClr val="212326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4690" cy="2921254"/>
            </a:xfrm>
            <a:custGeom>
              <a:avLst/>
              <a:gdLst/>
              <a:ahLst/>
              <a:cxnLst/>
              <a:rect r="r" b="b" t="t" l="l"/>
              <a:pathLst>
                <a:path h="2921254" w="7044690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772910" y="0"/>
                  </a:lnTo>
                  <a:lnTo>
                    <a:pt x="6772910" y="25400"/>
                  </a:lnTo>
                  <a:lnTo>
                    <a:pt x="6772910" y="0"/>
                  </a:lnTo>
                  <a:cubicBezTo>
                    <a:pt x="6922770" y="0"/>
                    <a:pt x="7044690" y="120269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2652014"/>
                  </a:lnTo>
                  <a:lnTo>
                    <a:pt x="7019290" y="2652014"/>
                  </a:lnTo>
                  <a:lnTo>
                    <a:pt x="7044690" y="2652014"/>
                  </a:lnTo>
                  <a:cubicBezTo>
                    <a:pt x="7044690" y="2800985"/>
                    <a:pt x="6922770" y="2921254"/>
                    <a:pt x="6772910" y="2921254"/>
                  </a:cubicBezTo>
                  <a:lnTo>
                    <a:pt x="6772910" y="2895854"/>
                  </a:lnTo>
                  <a:lnTo>
                    <a:pt x="6772910" y="2921254"/>
                  </a:lnTo>
                  <a:lnTo>
                    <a:pt x="271780" y="2921254"/>
                  </a:lnTo>
                  <a:lnTo>
                    <a:pt x="271780" y="2895854"/>
                  </a:lnTo>
                  <a:lnTo>
                    <a:pt x="271780" y="2921254"/>
                  </a:lnTo>
                  <a:cubicBezTo>
                    <a:pt x="121920" y="2921254"/>
                    <a:pt x="0" y="2800985"/>
                    <a:pt x="0" y="265201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52014"/>
                  </a:lnTo>
                  <a:lnTo>
                    <a:pt x="25400" y="2652014"/>
                  </a:lnTo>
                  <a:lnTo>
                    <a:pt x="50800" y="2652014"/>
                  </a:lnTo>
                  <a:cubicBezTo>
                    <a:pt x="50800" y="2772410"/>
                    <a:pt x="149479" y="2870454"/>
                    <a:pt x="271780" y="2870454"/>
                  </a:cubicBezTo>
                  <a:lnTo>
                    <a:pt x="6772910" y="2870454"/>
                  </a:lnTo>
                  <a:cubicBezTo>
                    <a:pt x="6895211" y="2870454"/>
                    <a:pt x="6993890" y="2772410"/>
                    <a:pt x="6993890" y="2652014"/>
                  </a:cubicBezTo>
                  <a:lnTo>
                    <a:pt x="6993890" y="269240"/>
                  </a:lnTo>
                  <a:cubicBezTo>
                    <a:pt x="6993890" y="148844"/>
                    <a:pt x="6895211" y="50800"/>
                    <a:pt x="6772910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83106" y="5179809"/>
            <a:ext cx="152400" cy="2152802"/>
            <a:chOff x="0" y="0"/>
            <a:chExt cx="203200" cy="28704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3200" cy="2870454"/>
            </a:xfrm>
            <a:custGeom>
              <a:avLst/>
              <a:gdLst/>
              <a:ahLst/>
              <a:cxnLst/>
              <a:rect r="r" b="b" t="t" l="l"/>
              <a:pathLst>
                <a:path h="2870454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813685"/>
                  </a:lnTo>
                  <a:cubicBezTo>
                    <a:pt x="203200" y="2845054"/>
                    <a:pt x="177800" y="2870454"/>
                    <a:pt x="146431" y="2870454"/>
                  </a:cubicBezTo>
                  <a:lnTo>
                    <a:pt x="56769" y="2870454"/>
                  </a:lnTo>
                  <a:cubicBezTo>
                    <a:pt x="25400" y="2870454"/>
                    <a:pt x="0" y="2845054"/>
                    <a:pt x="0" y="2813685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957117" y="548238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Backend API Flask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57117" y="6009684"/>
            <a:ext cx="4487913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Gestion métier et données.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31113" y="5160759"/>
            <a:ext cx="5283546" cy="2190902"/>
            <a:chOff x="0" y="0"/>
            <a:chExt cx="7044728" cy="29212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25400"/>
              <a:ext cx="6993890" cy="2870454"/>
            </a:xfrm>
            <a:custGeom>
              <a:avLst/>
              <a:gdLst/>
              <a:ahLst/>
              <a:cxnLst/>
              <a:rect r="r" b="b" t="t" l="l"/>
              <a:pathLst>
                <a:path h="2870454" w="6993890">
                  <a:moveTo>
                    <a:pt x="0" y="243840"/>
                  </a:moveTo>
                  <a:cubicBezTo>
                    <a:pt x="0" y="109220"/>
                    <a:pt x="110363" y="0"/>
                    <a:pt x="246380" y="0"/>
                  </a:cubicBezTo>
                  <a:lnTo>
                    <a:pt x="6747510" y="0"/>
                  </a:lnTo>
                  <a:cubicBezTo>
                    <a:pt x="6883527" y="0"/>
                    <a:pt x="6993890" y="109220"/>
                    <a:pt x="6993890" y="243840"/>
                  </a:cubicBezTo>
                  <a:lnTo>
                    <a:pt x="6993890" y="2626614"/>
                  </a:lnTo>
                  <a:cubicBezTo>
                    <a:pt x="6993890" y="2761234"/>
                    <a:pt x="6883527" y="2870454"/>
                    <a:pt x="6747510" y="2870454"/>
                  </a:cubicBezTo>
                  <a:lnTo>
                    <a:pt x="246380" y="2870454"/>
                  </a:lnTo>
                  <a:cubicBezTo>
                    <a:pt x="110363" y="2870454"/>
                    <a:pt x="0" y="2761234"/>
                    <a:pt x="0" y="2626614"/>
                  </a:cubicBezTo>
                  <a:close/>
                </a:path>
              </a:pathLst>
            </a:custGeom>
            <a:solidFill>
              <a:srgbClr val="212326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44690" cy="2921254"/>
            </a:xfrm>
            <a:custGeom>
              <a:avLst/>
              <a:gdLst/>
              <a:ahLst/>
              <a:cxnLst/>
              <a:rect r="r" b="b" t="t" l="l"/>
              <a:pathLst>
                <a:path h="2921254" w="7044690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772910" y="0"/>
                  </a:lnTo>
                  <a:lnTo>
                    <a:pt x="6772910" y="25400"/>
                  </a:lnTo>
                  <a:lnTo>
                    <a:pt x="6772910" y="0"/>
                  </a:lnTo>
                  <a:cubicBezTo>
                    <a:pt x="6922770" y="0"/>
                    <a:pt x="7044690" y="120269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2652014"/>
                  </a:lnTo>
                  <a:lnTo>
                    <a:pt x="7019290" y="2652014"/>
                  </a:lnTo>
                  <a:lnTo>
                    <a:pt x="7044690" y="2652014"/>
                  </a:lnTo>
                  <a:cubicBezTo>
                    <a:pt x="7044690" y="2800985"/>
                    <a:pt x="6922770" y="2921254"/>
                    <a:pt x="6772910" y="2921254"/>
                  </a:cubicBezTo>
                  <a:lnTo>
                    <a:pt x="6772910" y="2895854"/>
                  </a:lnTo>
                  <a:lnTo>
                    <a:pt x="6772910" y="2921254"/>
                  </a:lnTo>
                  <a:lnTo>
                    <a:pt x="271780" y="2921254"/>
                  </a:lnTo>
                  <a:lnTo>
                    <a:pt x="271780" y="2895854"/>
                  </a:lnTo>
                  <a:lnTo>
                    <a:pt x="271780" y="2921254"/>
                  </a:lnTo>
                  <a:cubicBezTo>
                    <a:pt x="121920" y="2921254"/>
                    <a:pt x="0" y="2800985"/>
                    <a:pt x="0" y="265201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52014"/>
                  </a:lnTo>
                  <a:lnTo>
                    <a:pt x="25400" y="2652014"/>
                  </a:lnTo>
                  <a:lnTo>
                    <a:pt x="50800" y="2652014"/>
                  </a:lnTo>
                  <a:cubicBezTo>
                    <a:pt x="50800" y="2772410"/>
                    <a:pt x="149479" y="2870454"/>
                    <a:pt x="271780" y="2870454"/>
                  </a:cubicBezTo>
                  <a:lnTo>
                    <a:pt x="6772910" y="2870454"/>
                  </a:lnTo>
                  <a:cubicBezTo>
                    <a:pt x="6895211" y="2870454"/>
                    <a:pt x="6993890" y="2772410"/>
                    <a:pt x="6993890" y="2652014"/>
                  </a:cubicBezTo>
                  <a:lnTo>
                    <a:pt x="6993890" y="269240"/>
                  </a:lnTo>
                  <a:cubicBezTo>
                    <a:pt x="6993890" y="148844"/>
                    <a:pt x="6895211" y="50800"/>
                    <a:pt x="6772910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012063" y="5179809"/>
            <a:ext cx="152400" cy="2152802"/>
            <a:chOff x="0" y="0"/>
            <a:chExt cx="203200" cy="28704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200" cy="2870454"/>
            </a:xfrm>
            <a:custGeom>
              <a:avLst/>
              <a:gdLst/>
              <a:ahLst/>
              <a:cxnLst/>
              <a:rect r="r" b="b" t="t" l="l"/>
              <a:pathLst>
                <a:path h="2870454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813685"/>
                  </a:lnTo>
                  <a:cubicBezTo>
                    <a:pt x="203200" y="2845054"/>
                    <a:pt x="177800" y="2870454"/>
                    <a:pt x="146431" y="2870454"/>
                  </a:cubicBezTo>
                  <a:lnTo>
                    <a:pt x="56769" y="2870454"/>
                  </a:lnTo>
                  <a:cubicBezTo>
                    <a:pt x="25400" y="2870454"/>
                    <a:pt x="0" y="2845054"/>
                    <a:pt x="0" y="2813685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486084" y="5482380"/>
            <a:ext cx="448791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Fonctionnalités dynamiques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86084" y="6452597"/>
            <a:ext cx="4487913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Playlists, lecture audio.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317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3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2019" y="1009202"/>
            <a:ext cx="10711310" cy="83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>
                <a:solidFill>
                  <a:srgbClr val="F2D4BA"/>
                </a:solidFill>
                <a:latin typeface="Prata"/>
                <a:ea typeface="Prata"/>
                <a:cs typeface="Prata"/>
                <a:sym typeface="Prata"/>
              </a:rPr>
              <a:t>Démarche de réalisation du projet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12019" y="2354161"/>
            <a:ext cx="260594" cy="260594"/>
          </a:xfrm>
          <a:custGeom>
            <a:avLst/>
            <a:gdLst/>
            <a:ahLst/>
            <a:cxnLst/>
            <a:rect r="r" b="b" t="t" l="l"/>
            <a:pathLst>
              <a:path h="260594" w="260594">
                <a:moveTo>
                  <a:pt x="0" y="0"/>
                </a:moveTo>
                <a:lnTo>
                  <a:pt x="260594" y="0"/>
                </a:lnTo>
                <a:lnTo>
                  <a:pt x="260594" y="260594"/>
                </a:lnTo>
                <a:lnTo>
                  <a:pt x="0" y="260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12019" y="2735904"/>
            <a:ext cx="5328342" cy="28575"/>
            <a:chOff x="0" y="0"/>
            <a:chExt cx="7104456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04507" cy="38100"/>
            </a:xfrm>
            <a:custGeom>
              <a:avLst/>
              <a:gdLst/>
              <a:ahLst/>
              <a:cxnLst/>
              <a:rect r="r" b="b" t="t" l="l"/>
              <a:pathLst>
                <a:path h="38100" w="7104507">
                  <a:moveTo>
                    <a:pt x="0" y="0"/>
                  </a:moveTo>
                  <a:lnTo>
                    <a:pt x="7104507" y="0"/>
                  </a:lnTo>
                  <a:lnTo>
                    <a:pt x="71045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2019" y="2923280"/>
            <a:ext cx="5328342" cy="81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Développement de l'application support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2019" y="3805085"/>
            <a:ext cx="532834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Création de l'application web SoundWave.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6479829" y="2354161"/>
            <a:ext cx="260594" cy="260594"/>
          </a:xfrm>
          <a:custGeom>
            <a:avLst/>
            <a:gdLst/>
            <a:ahLst/>
            <a:cxnLst/>
            <a:rect r="r" b="b" t="t" l="l"/>
            <a:pathLst>
              <a:path h="260594" w="260594">
                <a:moveTo>
                  <a:pt x="0" y="0"/>
                </a:moveTo>
                <a:lnTo>
                  <a:pt x="260594" y="0"/>
                </a:lnTo>
                <a:lnTo>
                  <a:pt x="260594" y="260594"/>
                </a:lnTo>
                <a:lnTo>
                  <a:pt x="0" y="260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6071" r="0" b="-16071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479829" y="2735904"/>
            <a:ext cx="5328342" cy="28575"/>
            <a:chOff x="0" y="0"/>
            <a:chExt cx="7104456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04507" cy="38100"/>
            </a:xfrm>
            <a:custGeom>
              <a:avLst/>
              <a:gdLst/>
              <a:ahLst/>
              <a:cxnLst/>
              <a:rect r="r" b="b" t="t" l="l"/>
              <a:pathLst>
                <a:path h="38100" w="7104507">
                  <a:moveTo>
                    <a:pt x="0" y="0"/>
                  </a:moveTo>
                  <a:lnTo>
                    <a:pt x="7104507" y="0"/>
                  </a:lnTo>
                  <a:lnTo>
                    <a:pt x="71045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479829" y="2923280"/>
            <a:ext cx="4724991" cy="40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Conteneurisation avec Docker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79829" y="3397891"/>
            <a:ext cx="5328342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Empaquetage de l'application dans des conteneurs.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2047639" y="2354161"/>
            <a:ext cx="260594" cy="260594"/>
          </a:xfrm>
          <a:custGeom>
            <a:avLst/>
            <a:gdLst/>
            <a:ahLst/>
            <a:cxnLst/>
            <a:rect r="r" b="b" t="t" l="l"/>
            <a:pathLst>
              <a:path h="260594" w="260594">
                <a:moveTo>
                  <a:pt x="0" y="0"/>
                </a:moveTo>
                <a:lnTo>
                  <a:pt x="260595" y="0"/>
                </a:lnTo>
                <a:lnTo>
                  <a:pt x="260595" y="260594"/>
                </a:lnTo>
                <a:lnTo>
                  <a:pt x="0" y="2605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3213" t="0" r="-23217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047639" y="2735904"/>
            <a:ext cx="5328342" cy="28575"/>
            <a:chOff x="0" y="0"/>
            <a:chExt cx="7104456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04507" cy="38100"/>
            </a:xfrm>
            <a:custGeom>
              <a:avLst/>
              <a:gdLst/>
              <a:ahLst/>
              <a:cxnLst/>
              <a:rect r="r" b="b" t="t" l="l"/>
              <a:pathLst>
                <a:path h="38100" w="7104507">
                  <a:moveTo>
                    <a:pt x="0" y="0"/>
                  </a:moveTo>
                  <a:lnTo>
                    <a:pt x="7104507" y="0"/>
                  </a:lnTo>
                  <a:lnTo>
                    <a:pt x="71045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47639" y="2923280"/>
            <a:ext cx="5328342" cy="81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Provisionnement AWS avec Terraform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7639" y="3805085"/>
            <a:ext cx="532834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Gestion de l'infrastructure sur AWS via code.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912019" y="4748660"/>
            <a:ext cx="260594" cy="260594"/>
          </a:xfrm>
          <a:custGeom>
            <a:avLst/>
            <a:gdLst/>
            <a:ahLst/>
            <a:cxnLst/>
            <a:rect r="r" b="b" t="t" l="l"/>
            <a:pathLst>
              <a:path h="260594" w="260594">
                <a:moveTo>
                  <a:pt x="0" y="0"/>
                </a:moveTo>
                <a:lnTo>
                  <a:pt x="260594" y="0"/>
                </a:lnTo>
                <a:lnTo>
                  <a:pt x="260594" y="260595"/>
                </a:lnTo>
                <a:lnTo>
                  <a:pt x="0" y="2605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12019" y="5130403"/>
            <a:ext cx="5328342" cy="28575"/>
            <a:chOff x="0" y="0"/>
            <a:chExt cx="7104456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04507" cy="38100"/>
            </a:xfrm>
            <a:custGeom>
              <a:avLst/>
              <a:gdLst/>
              <a:ahLst/>
              <a:cxnLst/>
              <a:rect r="r" b="b" t="t" l="l"/>
              <a:pathLst>
                <a:path h="38100" w="7104507">
                  <a:moveTo>
                    <a:pt x="0" y="0"/>
                  </a:moveTo>
                  <a:lnTo>
                    <a:pt x="7104507" y="0"/>
                  </a:lnTo>
                  <a:lnTo>
                    <a:pt x="71045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12019" y="5317779"/>
            <a:ext cx="5328342" cy="81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Configuration automatique avec Ansible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2019" y="6199584"/>
            <a:ext cx="5328342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Automatisation de la configuration des serveurs.</a:t>
            </a:r>
          </a:p>
        </p:txBody>
      </p:sp>
      <p:sp>
        <p:nvSpPr>
          <p:cNvPr name="Freeform 27" id="27" descr="preencoded.png"/>
          <p:cNvSpPr/>
          <p:nvPr/>
        </p:nvSpPr>
        <p:spPr>
          <a:xfrm flipH="false" flipV="false" rot="0">
            <a:off x="6479829" y="4748660"/>
            <a:ext cx="260594" cy="260594"/>
          </a:xfrm>
          <a:custGeom>
            <a:avLst/>
            <a:gdLst/>
            <a:ahLst/>
            <a:cxnLst/>
            <a:rect r="r" b="b" t="t" l="l"/>
            <a:pathLst>
              <a:path h="260594" w="260594">
                <a:moveTo>
                  <a:pt x="0" y="0"/>
                </a:moveTo>
                <a:lnTo>
                  <a:pt x="260594" y="0"/>
                </a:lnTo>
                <a:lnTo>
                  <a:pt x="260594" y="260595"/>
                </a:lnTo>
                <a:lnTo>
                  <a:pt x="0" y="2605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7142" t="0" r="-7145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6479829" y="5130403"/>
            <a:ext cx="5328342" cy="28575"/>
            <a:chOff x="0" y="0"/>
            <a:chExt cx="7104456" cy="381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04507" cy="38100"/>
            </a:xfrm>
            <a:custGeom>
              <a:avLst/>
              <a:gdLst/>
              <a:ahLst/>
              <a:cxnLst/>
              <a:rect r="r" b="b" t="t" l="l"/>
              <a:pathLst>
                <a:path h="38100" w="7104507">
                  <a:moveTo>
                    <a:pt x="0" y="0"/>
                  </a:moveTo>
                  <a:lnTo>
                    <a:pt x="7104507" y="0"/>
                  </a:lnTo>
                  <a:lnTo>
                    <a:pt x="71045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6479829" y="5317779"/>
            <a:ext cx="4461567" cy="40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Mise en place du cluster K3s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79829" y="5792391"/>
            <a:ext cx="532834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Déploiement d'un cluster Kubernetes léger.</a:t>
            </a:r>
          </a:p>
        </p:txBody>
      </p:sp>
      <p:sp>
        <p:nvSpPr>
          <p:cNvPr name="Freeform 32" id="32" descr="preencoded.png"/>
          <p:cNvSpPr/>
          <p:nvPr/>
        </p:nvSpPr>
        <p:spPr>
          <a:xfrm flipH="false" flipV="false" rot="0">
            <a:off x="12047639" y="4748660"/>
            <a:ext cx="260594" cy="260594"/>
          </a:xfrm>
          <a:custGeom>
            <a:avLst/>
            <a:gdLst/>
            <a:ahLst/>
            <a:cxnLst/>
            <a:rect r="r" b="b" t="t" l="l"/>
            <a:pathLst>
              <a:path h="260594" w="260594">
                <a:moveTo>
                  <a:pt x="0" y="0"/>
                </a:moveTo>
                <a:lnTo>
                  <a:pt x="260595" y="0"/>
                </a:lnTo>
                <a:lnTo>
                  <a:pt x="260595" y="260595"/>
                </a:lnTo>
                <a:lnTo>
                  <a:pt x="0" y="26059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21429" t="0" r="-21429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2047639" y="5130403"/>
            <a:ext cx="5328342" cy="28575"/>
            <a:chOff x="0" y="0"/>
            <a:chExt cx="7104456" cy="38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04507" cy="38100"/>
            </a:xfrm>
            <a:custGeom>
              <a:avLst/>
              <a:gdLst/>
              <a:ahLst/>
              <a:cxnLst/>
              <a:rect r="r" b="b" t="t" l="l"/>
              <a:pathLst>
                <a:path h="38100" w="7104507">
                  <a:moveTo>
                    <a:pt x="0" y="0"/>
                  </a:moveTo>
                  <a:lnTo>
                    <a:pt x="7104507" y="0"/>
                  </a:lnTo>
                  <a:lnTo>
                    <a:pt x="71045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047639" y="5317779"/>
            <a:ext cx="4308872" cy="40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Création du pipeline CI/CD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47639" y="5792391"/>
            <a:ext cx="5328342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Mise en œuvre du processus d'intégration/déploiement.</a:t>
            </a:r>
          </a:p>
        </p:txBody>
      </p:sp>
      <p:sp>
        <p:nvSpPr>
          <p:cNvPr name="Freeform 37" id="37" descr="preencoded.png"/>
          <p:cNvSpPr/>
          <p:nvPr/>
        </p:nvSpPr>
        <p:spPr>
          <a:xfrm flipH="false" flipV="false" rot="0">
            <a:off x="912019" y="7543209"/>
            <a:ext cx="260594" cy="260594"/>
          </a:xfrm>
          <a:custGeom>
            <a:avLst/>
            <a:gdLst/>
            <a:ahLst/>
            <a:cxnLst/>
            <a:rect r="r" b="b" t="t" l="l"/>
            <a:pathLst>
              <a:path h="260594" w="260594">
                <a:moveTo>
                  <a:pt x="0" y="0"/>
                </a:moveTo>
                <a:lnTo>
                  <a:pt x="260594" y="0"/>
                </a:lnTo>
                <a:lnTo>
                  <a:pt x="260594" y="260595"/>
                </a:lnTo>
                <a:lnTo>
                  <a:pt x="0" y="26059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912019" y="7924952"/>
            <a:ext cx="16463962" cy="28575"/>
            <a:chOff x="0" y="0"/>
            <a:chExt cx="21951950" cy="38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51950" cy="38100"/>
            </a:xfrm>
            <a:custGeom>
              <a:avLst/>
              <a:gdLst/>
              <a:ahLst/>
              <a:cxnLst/>
              <a:rect r="r" b="b" t="t" l="l"/>
              <a:pathLst>
                <a:path h="38100" w="21951950">
                  <a:moveTo>
                    <a:pt x="0" y="0"/>
                  </a:moveTo>
                  <a:lnTo>
                    <a:pt x="21951950" y="0"/>
                  </a:lnTo>
                  <a:lnTo>
                    <a:pt x="2195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12019" y="8112328"/>
            <a:ext cx="5275955" cy="40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Déploiement final sur Kubernetes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2019" y="8586940"/>
            <a:ext cx="1646396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Livraison de l'application sur le cluster K3s.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317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3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17089"/>
            <a:ext cx="8002191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2D4BA"/>
                </a:solidFill>
                <a:latin typeface="Prata"/>
                <a:ea typeface="Prata"/>
                <a:cs typeface="Prata"/>
                <a:sym typeface="Prata"/>
              </a:rPr>
              <a:t>Mise en œuvre DevOps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384374"/>
            <a:ext cx="16303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La solution technique mise en place repose sur une chaîne d’outils complémentaires pour automatiser l’intégration, la livraison, l’infrastructure et le déploiement.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715341"/>
            <a:ext cx="16303523" cy="5535511"/>
            <a:chOff x="0" y="0"/>
            <a:chExt cx="21738031" cy="73806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37954" cy="7380605"/>
            </a:xfrm>
            <a:custGeom>
              <a:avLst/>
              <a:gdLst/>
              <a:ahLst/>
              <a:cxnLst/>
              <a:rect r="r" b="b" t="t" l="l"/>
              <a:pathLst>
                <a:path h="7380605" w="2173795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21681312" y="0"/>
                  </a:lnTo>
                  <a:cubicBezTo>
                    <a:pt x="21712681" y="0"/>
                    <a:pt x="21737954" y="25400"/>
                    <a:pt x="21737954" y="56642"/>
                  </a:cubicBezTo>
                  <a:lnTo>
                    <a:pt x="21737954" y="7323963"/>
                  </a:lnTo>
                  <a:cubicBezTo>
                    <a:pt x="21737954" y="7355332"/>
                    <a:pt x="21712554" y="7380605"/>
                    <a:pt x="21681312" y="7380605"/>
                  </a:cubicBezTo>
                  <a:lnTo>
                    <a:pt x="56642" y="7380605"/>
                  </a:lnTo>
                  <a:cubicBezTo>
                    <a:pt x="25273" y="7380605"/>
                    <a:pt x="0" y="7355205"/>
                    <a:pt x="0" y="7323963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3715341"/>
            <a:ext cx="4075805" cy="3901831"/>
            <a:chOff x="0" y="0"/>
            <a:chExt cx="5434406" cy="52024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34457" cy="5202555"/>
            </a:xfrm>
            <a:custGeom>
              <a:avLst/>
              <a:gdLst/>
              <a:ahLst/>
              <a:cxnLst/>
              <a:rect r="r" b="b" t="t" l="l"/>
              <a:pathLst>
                <a:path h="5202555" w="543445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377688" y="0"/>
                  </a:lnTo>
                  <a:cubicBezTo>
                    <a:pt x="5409057" y="0"/>
                    <a:pt x="5434457" y="25400"/>
                    <a:pt x="5434457" y="56769"/>
                  </a:cubicBezTo>
                  <a:lnTo>
                    <a:pt x="5434457" y="5145786"/>
                  </a:lnTo>
                  <a:cubicBezTo>
                    <a:pt x="5434457" y="5177155"/>
                    <a:pt x="5409057" y="5202555"/>
                    <a:pt x="5377688" y="5202555"/>
                  </a:cubicBezTo>
                  <a:lnTo>
                    <a:pt x="56769" y="5202555"/>
                  </a:lnTo>
                  <a:cubicBezTo>
                    <a:pt x="25400" y="5202555"/>
                    <a:pt x="0" y="5177155"/>
                    <a:pt x="0" y="5145786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75759" y="3979812"/>
            <a:ext cx="308356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GitHub Actions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759" y="4507116"/>
            <a:ext cx="3083566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CI/CD automatisé pour lancer les tests et les déploiements à chaque modification.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068043" y="3715341"/>
            <a:ext cx="4075957" cy="3901831"/>
            <a:chOff x="0" y="0"/>
            <a:chExt cx="5434609" cy="52024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34584" cy="5202428"/>
            </a:xfrm>
            <a:custGeom>
              <a:avLst/>
              <a:gdLst/>
              <a:ahLst/>
              <a:cxnLst/>
              <a:rect r="r" b="b" t="t" l="l"/>
              <a:pathLst>
                <a:path h="5202428" w="5434584">
                  <a:moveTo>
                    <a:pt x="0" y="0"/>
                  </a:moveTo>
                  <a:lnTo>
                    <a:pt x="5434584" y="0"/>
                  </a:lnTo>
                  <a:lnTo>
                    <a:pt x="5434584" y="5202428"/>
                  </a:lnTo>
                  <a:lnTo>
                    <a:pt x="0" y="5202428"/>
                  </a:ln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068043" y="3715341"/>
            <a:ext cx="38100" cy="3901831"/>
            <a:chOff x="0" y="0"/>
            <a:chExt cx="50800" cy="52024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" cy="5202428"/>
            </a:xfrm>
            <a:custGeom>
              <a:avLst/>
              <a:gdLst/>
              <a:ahLst/>
              <a:cxnLst/>
              <a:rect r="r" b="b" t="t" l="l"/>
              <a:pathLst>
                <a:path h="520242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5177028"/>
                  </a:lnTo>
                  <a:cubicBezTo>
                    <a:pt x="50800" y="5190998"/>
                    <a:pt x="39370" y="5202428"/>
                    <a:pt x="25400" y="5202428"/>
                  </a:cubicBezTo>
                  <a:cubicBezTo>
                    <a:pt x="11430" y="5202428"/>
                    <a:pt x="0" y="5190998"/>
                    <a:pt x="0" y="5177028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776760" y="3979812"/>
            <a:ext cx="265851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Docker &amp; Docker Hub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76760" y="4950028"/>
            <a:ext cx="2658513" cy="237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Containerisation de l’application et publication d’images versionnées.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694634" y="5292776"/>
            <a:ext cx="746817" cy="746817"/>
            <a:chOff x="0" y="0"/>
            <a:chExt cx="995756" cy="9957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888238" y="0"/>
                  </a:lnTo>
                  <a:cubicBezTo>
                    <a:pt x="919607" y="0"/>
                    <a:pt x="945007" y="25400"/>
                    <a:pt x="945007" y="56769"/>
                  </a:cubicBezTo>
                  <a:lnTo>
                    <a:pt x="945007" y="888238"/>
                  </a:lnTo>
                  <a:cubicBezTo>
                    <a:pt x="945007" y="919607"/>
                    <a:pt x="919607" y="945007"/>
                    <a:pt x="888238" y="945007"/>
                  </a:cubicBezTo>
                  <a:lnTo>
                    <a:pt x="56769" y="945007"/>
                  </a:lnTo>
                  <a:cubicBezTo>
                    <a:pt x="25400" y="945007"/>
                    <a:pt x="0" y="919607"/>
                    <a:pt x="0" y="888238"/>
                  </a:cubicBezTo>
                  <a:close/>
                </a:path>
              </a:pathLst>
            </a:custGeom>
            <a:solidFill>
              <a:srgbClr val="212326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95807" cy="995807"/>
            </a:xfrm>
            <a:custGeom>
              <a:avLst/>
              <a:gdLst/>
              <a:ahLst/>
              <a:cxnLst/>
              <a:rect r="r" b="b" t="t" l="l"/>
              <a:pathLst>
                <a:path h="995807" w="995807">
                  <a:moveTo>
                    <a:pt x="0" y="82169"/>
                  </a:moveTo>
                  <a:cubicBezTo>
                    <a:pt x="0" y="36703"/>
                    <a:pt x="36703" y="0"/>
                    <a:pt x="82169" y="0"/>
                  </a:cubicBezTo>
                  <a:lnTo>
                    <a:pt x="913638" y="0"/>
                  </a:lnTo>
                  <a:lnTo>
                    <a:pt x="913638" y="25400"/>
                  </a:lnTo>
                  <a:lnTo>
                    <a:pt x="913638" y="0"/>
                  </a:lnTo>
                  <a:cubicBezTo>
                    <a:pt x="958977" y="0"/>
                    <a:pt x="995807" y="36703"/>
                    <a:pt x="995807" y="82169"/>
                  </a:cubicBezTo>
                  <a:lnTo>
                    <a:pt x="970407" y="82169"/>
                  </a:lnTo>
                  <a:lnTo>
                    <a:pt x="995807" y="82169"/>
                  </a:lnTo>
                  <a:lnTo>
                    <a:pt x="995807" y="913638"/>
                  </a:lnTo>
                  <a:lnTo>
                    <a:pt x="970407" y="913638"/>
                  </a:lnTo>
                  <a:lnTo>
                    <a:pt x="995807" y="913638"/>
                  </a:lnTo>
                  <a:cubicBezTo>
                    <a:pt x="995807" y="958977"/>
                    <a:pt x="959104" y="995807"/>
                    <a:pt x="913638" y="995807"/>
                  </a:cubicBezTo>
                  <a:lnTo>
                    <a:pt x="913638" y="970407"/>
                  </a:lnTo>
                  <a:lnTo>
                    <a:pt x="913638" y="995807"/>
                  </a:lnTo>
                  <a:lnTo>
                    <a:pt x="82169" y="995807"/>
                  </a:lnTo>
                  <a:lnTo>
                    <a:pt x="82169" y="970407"/>
                  </a:lnTo>
                  <a:lnTo>
                    <a:pt x="82169" y="995807"/>
                  </a:lnTo>
                  <a:cubicBezTo>
                    <a:pt x="36703" y="995807"/>
                    <a:pt x="0" y="958977"/>
                    <a:pt x="0" y="913638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913638"/>
                  </a:lnTo>
                  <a:lnTo>
                    <a:pt x="25400" y="913638"/>
                  </a:lnTo>
                  <a:lnTo>
                    <a:pt x="50800" y="913638"/>
                  </a:lnTo>
                  <a:cubicBezTo>
                    <a:pt x="50800" y="930910"/>
                    <a:pt x="64770" y="945007"/>
                    <a:pt x="82169" y="945007"/>
                  </a:cubicBezTo>
                  <a:lnTo>
                    <a:pt x="913638" y="945007"/>
                  </a:lnTo>
                  <a:cubicBezTo>
                    <a:pt x="930910" y="945007"/>
                    <a:pt x="945007" y="931037"/>
                    <a:pt x="945007" y="913638"/>
                  </a:cubicBezTo>
                  <a:lnTo>
                    <a:pt x="945007" y="82169"/>
                  </a:lnTo>
                  <a:cubicBezTo>
                    <a:pt x="945007" y="64770"/>
                    <a:pt x="930910" y="50800"/>
                    <a:pt x="913638" y="50800"/>
                  </a:cubicBezTo>
                  <a:lnTo>
                    <a:pt x="82169" y="50800"/>
                  </a:lnTo>
                  <a:lnTo>
                    <a:pt x="82169" y="25400"/>
                  </a:lnTo>
                  <a:lnTo>
                    <a:pt x="82169" y="50800"/>
                  </a:lnTo>
                  <a:cubicBezTo>
                    <a:pt x="64770" y="50800"/>
                    <a:pt x="50800" y="64770"/>
                    <a:pt x="50800" y="82169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0" y="3715341"/>
            <a:ext cx="4075805" cy="3901831"/>
            <a:chOff x="0" y="0"/>
            <a:chExt cx="5434406" cy="52024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34457" cy="5202428"/>
            </a:xfrm>
            <a:custGeom>
              <a:avLst/>
              <a:gdLst/>
              <a:ahLst/>
              <a:cxnLst/>
              <a:rect r="r" b="b" t="t" l="l"/>
              <a:pathLst>
                <a:path h="5202428" w="5434457">
                  <a:moveTo>
                    <a:pt x="0" y="0"/>
                  </a:moveTo>
                  <a:lnTo>
                    <a:pt x="5434457" y="0"/>
                  </a:lnTo>
                  <a:lnTo>
                    <a:pt x="5434457" y="5202428"/>
                  </a:lnTo>
                  <a:lnTo>
                    <a:pt x="0" y="5202428"/>
                  </a:ln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0" y="3715341"/>
            <a:ext cx="38100" cy="3901831"/>
            <a:chOff x="0" y="0"/>
            <a:chExt cx="50800" cy="520244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800" cy="5202428"/>
            </a:xfrm>
            <a:custGeom>
              <a:avLst/>
              <a:gdLst/>
              <a:ahLst/>
              <a:cxnLst/>
              <a:rect r="r" b="b" t="t" l="l"/>
              <a:pathLst>
                <a:path h="520242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5177028"/>
                  </a:lnTo>
                  <a:cubicBezTo>
                    <a:pt x="50800" y="5190998"/>
                    <a:pt x="39370" y="5202428"/>
                    <a:pt x="25400" y="5202428"/>
                  </a:cubicBezTo>
                  <a:cubicBezTo>
                    <a:pt x="11430" y="5202428"/>
                    <a:pt x="0" y="5190998"/>
                    <a:pt x="0" y="5177028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852717" y="3979812"/>
            <a:ext cx="265837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Terraform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52717" y="4507116"/>
            <a:ext cx="2658370" cy="282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Infrastructure as Code pour provisionner les ressources AWS de manière reproductible.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770591" y="5292776"/>
            <a:ext cx="746817" cy="746817"/>
            <a:chOff x="0" y="0"/>
            <a:chExt cx="995756" cy="9957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888238" y="0"/>
                  </a:lnTo>
                  <a:cubicBezTo>
                    <a:pt x="919607" y="0"/>
                    <a:pt x="945007" y="25400"/>
                    <a:pt x="945007" y="56769"/>
                  </a:cubicBezTo>
                  <a:lnTo>
                    <a:pt x="945007" y="888238"/>
                  </a:lnTo>
                  <a:cubicBezTo>
                    <a:pt x="945007" y="919607"/>
                    <a:pt x="919607" y="945007"/>
                    <a:pt x="888238" y="945007"/>
                  </a:cubicBezTo>
                  <a:lnTo>
                    <a:pt x="56769" y="945007"/>
                  </a:lnTo>
                  <a:cubicBezTo>
                    <a:pt x="25400" y="945007"/>
                    <a:pt x="0" y="919607"/>
                    <a:pt x="0" y="888238"/>
                  </a:cubicBezTo>
                  <a:close/>
                </a:path>
              </a:pathLst>
            </a:custGeom>
            <a:solidFill>
              <a:srgbClr val="212326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95807" cy="995807"/>
            </a:xfrm>
            <a:custGeom>
              <a:avLst/>
              <a:gdLst/>
              <a:ahLst/>
              <a:cxnLst/>
              <a:rect r="r" b="b" t="t" l="l"/>
              <a:pathLst>
                <a:path h="995807" w="995807">
                  <a:moveTo>
                    <a:pt x="0" y="82169"/>
                  </a:moveTo>
                  <a:cubicBezTo>
                    <a:pt x="0" y="36703"/>
                    <a:pt x="36703" y="0"/>
                    <a:pt x="82169" y="0"/>
                  </a:cubicBezTo>
                  <a:lnTo>
                    <a:pt x="913638" y="0"/>
                  </a:lnTo>
                  <a:lnTo>
                    <a:pt x="913638" y="25400"/>
                  </a:lnTo>
                  <a:lnTo>
                    <a:pt x="913638" y="0"/>
                  </a:lnTo>
                  <a:cubicBezTo>
                    <a:pt x="958977" y="0"/>
                    <a:pt x="995807" y="36703"/>
                    <a:pt x="995807" y="82169"/>
                  </a:cubicBezTo>
                  <a:lnTo>
                    <a:pt x="970407" y="82169"/>
                  </a:lnTo>
                  <a:lnTo>
                    <a:pt x="995807" y="82169"/>
                  </a:lnTo>
                  <a:lnTo>
                    <a:pt x="995807" y="913638"/>
                  </a:lnTo>
                  <a:lnTo>
                    <a:pt x="970407" y="913638"/>
                  </a:lnTo>
                  <a:lnTo>
                    <a:pt x="995807" y="913638"/>
                  </a:lnTo>
                  <a:cubicBezTo>
                    <a:pt x="995807" y="958977"/>
                    <a:pt x="959104" y="995807"/>
                    <a:pt x="913638" y="995807"/>
                  </a:cubicBezTo>
                  <a:lnTo>
                    <a:pt x="913638" y="970407"/>
                  </a:lnTo>
                  <a:lnTo>
                    <a:pt x="913638" y="995807"/>
                  </a:lnTo>
                  <a:lnTo>
                    <a:pt x="82169" y="995807"/>
                  </a:lnTo>
                  <a:lnTo>
                    <a:pt x="82169" y="970407"/>
                  </a:lnTo>
                  <a:lnTo>
                    <a:pt x="82169" y="995807"/>
                  </a:lnTo>
                  <a:cubicBezTo>
                    <a:pt x="36703" y="995807"/>
                    <a:pt x="0" y="958977"/>
                    <a:pt x="0" y="913638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913638"/>
                  </a:lnTo>
                  <a:lnTo>
                    <a:pt x="25400" y="913638"/>
                  </a:lnTo>
                  <a:lnTo>
                    <a:pt x="50800" y="913638"/>
                  </a:lnTo>
                  <a:cubicBezTo>
                    <a:pt x="50800" y="930910"/>
                    <a:pt x="64770" y="945007"/>
                    <a:pt x="82169" y="945007"/>
                  </a:cubicBezTo>
                  <a:lnTo>
                    <a:pt x="913638" y="945007"/>
                  </a:lnTo>
                  <a:cubicBezTo>
                    <a:pt x="930910" y="945007"/>
                    <a:pt x="945007" y="931037"/>
                    <a:pt x="945007" y="913638"/>
                  </a:cubicBezTo>
                  <a:lnTo>
                    <a:pt x="945007" y="82169"/>
                  </a:lnTo>
                  <a:cubicBezTo>
                    <a:pt x="945007" y="64770"/>
                    <a:pt x="930910" y="50800"/>
                    <a:pt x="913638" y="50800"/>
                  </a:cubicBezTo>
                  <a:lnTo>
                    <a:pt x="82169" y="50800"/>
                  </a:lnTo>
                  <a:lnTo>
                    <a:pt x="82169" y="25400"/>
                  </a:lnTo>
                  <a:lnTo>
                    <a:pt x="82169" y="50800"/>
                  </a:lnTo>
                  <a:cubicBezTo>
                    <a:pt x="64770" y="50800"/>
                    <a:pt x="50800" y="64770"/>
                    <a:pt x="50800" y="82169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219805" y="3715341"/>
            <a:ext cx="4075957" cy="3901831"/>
            <a:chOff x="0" y="0"/>
            <a:chExt cx="5434609" cy="52024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34584" cy="5202428"/>
            </a:xfrm>
            <a:custGeom>
              <a:avLst/>
              <a:gdLst/>
              <a:ahLst/>
              <a:cxnLst/>
              <a:rect r="r" b="b" t="t" l="l"/>
              <a:pathLst>
                <a:path h="5202428" w="5434584">
                  <a:moveTo>
                    <a:pt x="0" y="0"/>
                  </a:moveTo>
                  <a:lnTo>
                    <a:pt x="5434584" y="0"/>
                  </a:lnTo>
                  <a:lnTo>
                    <a:pt x="5434584" y="5202428"/>
                  </a:lnTo>
                  <a:lnTo>
                    <a:pt x="0" y="5202428"/>
                  </a:ln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219805" y="3715341"/>
            <a:ext cx="38100" cy="3901831"/>
            <a:chOff x="0" y="0"/>
            <a:chExt cx="50800" cy="520244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" cy="5202428"/>
            </a:xfrm>
            <a:custGeom>
              <a:avLst/>
              <a:gdLst/>
              <a:ahLst/>
              <a:cxnLst/>
              <a:rect r="r" b="b" t="t" l="l"/>
              <a:pathLst>
                <a:path h="520242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5177028"/>
                  </a:lnTo>
                  <a:cubicBezTo>
                    <a:pt x="50800" y="5190998"/>
                    <a:pt x="39370" y="5202428"/>
                    <a:pt x="25400" y="5202428"/>
                  </a:cubicBezTo>
                  <a:cubicBezTo>
                    <a:pt x="11430" y="5202428"/>
                    <a:pt x="0" y="5190998"/>
                    <a:pt x="0" y="5177028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3928522" y="3979812"/>
            <a:ext cx="308371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Ansible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928522" y="4507116"/>
            <a:ext cx="3083719" cy="237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Automatisation de la configuration des serveurs et de l’installation des dépendances.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846396" y="5292776"/>
            <a:ext cx="746817" cy="746817"/>
            <a:chOff x="0" y="0"/>
            <a:chExt cx="995756" cy="9957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25400" y="2540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888238" y="0"/>
                  </a:lnTo>
                  <a:cubicBezTo>
                    <a:pt x="919607" y="0"/>
                    <a:pt x="945007" y="25400"/>
                    <a:pt x="945007" y="56769"/>
                  </a:cubicBezTo>
                  <a:lnTo>
                    <a:pt x="945007" y="888238"/>
                  </a:lnTo>
                  <a:cubicBezTo>
                    <a:pt x="945007" y="919607"/>
                    <a:pt x="919607" y="945007"/>
                    <a:pt x="888238" y="945007"/>
                  </a:cubicBezTo>
                  <a:lnTo>
                    <a:pt x="56769" y="945007"/>
                  </a:lnTo>
                  <a:cubicBezTo>
                    <a:pt x="25400" y="945007"/>
                    <a:pt x="0" y="919607"/>
                    <a:pt x="0" y="888238"/>
                  </a:cubicBezTo>
                  <a:close/>
                </a:path>
              </a:pathLst>
            </a:custGeom>
            <a:solidFill>
              <a:srgbClr val="212326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95807" cy="995807"/>
            </a:xfrm>
            <a:custGeom>
              <a:avLst/>
              <a:gdLst/>
              <a:ahLst/>
              <a:cxnLst/>
              <a:rect r="r" b="b" t="t" l="l"/>
              <a:pathLst>
                <a:path h="995807" w="995807">
                  <a:moveTo>
                    <a:pt x="0" y="82169"/>
                  </a:moveTo>
                  <a:cubicBezTo>
                    <a:pt x="0" y="36703"/>
                    <a:pt x="36703" y="0"/>
                    <a:pt x="82169" y="0"/>
                  </a:cubicBezTo>
                  <a:lnTo>
                    <a:pt x="913638" y="0"/>
                  </a:lnTo>
                  <a:lnTo>
                    <a:pt x="913638" y="25400"/>
                  </a:lnTo>
                  <a:lnTo>
                    <a:pt x="913638" y="0"/>
                  </a:lnTo>
                  <a:cubicBezTo>
                    <a:pt x="958977" y="0"/>
                    <a:pt x="995807" y="36703"/>
                    <a:pt x="995807" y="82169"/>
                  </a:cubicBezTo>
                  <a:lnTo>
                    <a:pt x="970407" y="82169"/>
                  </a:lnTo>
                  <a:lnTo>
                    <a:pt x="995807" y="82169"/>
                  </a:lnTo>
                  <a:lnTo>
                    <a:pt x="995807" y="913638"/>
                  </a:lnTo>
                  <a:lnTo>
                    <a:pt x="970407" y="913638"/>
                  </a:lnTo>
                  <a:lnTo>
                    <a:pt x="995807" y="913638"/>
                  </a:lnTo>
                  <a:cubicBezTo>
                    <a:pt x="995807" y="958977"/>
                    <a:pt x="959104" y="995807"/>
                    <a:pt x="913638" y="995807"/>
                  </a:cubicBezTo>
                  <a:lnTo>
                    <a:pt x="913638" y="970407"/>
                  </a:lnTo>
                  <a:lnTo>
                    <a:pt x="913638" y="995807"/>
                  </a:lnTo>
                  <a:lnTo>
                    <a:pt x="82169" y="995807"/>
                  </a:lnTo>
                  <a:lnTo>
                    <a:pt x="82169" y="970407"/>
                  </a:lnTo>
                  <a:lnTo>
                    <a:pt x="82169" y="995807"/>
                  </a:lnTo>
                  <a:cubicBezTo>
                    <a:pt x="36703" y="995807"/>
                    <a:pt x="0" y="958977"/>
                    <a:pt x="0" y="913638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913638"/>
                  </a:lnTo>
                  <a:lnTo>
                    <a:pt x="25400" y="913638"/>
                  </a:lnTo>
                  <a:lnTo>
                    <a:pt x="50800" y="913638"/>
                  </a:lnTo>
                  <a:cubicBezTo>
                    <a:pt x="50800" y="930910"/>
                    <a:pt x="64770" y="945007"/>
                    <a:pt x="82169" y="945007"/>
                  </a:cubicBezTo>
                  <a:lnTo>
                    <a:pt x="913638" y="945007"/>
                  </a:lnTo>
                  <a:cubicBezTo>
                    <a:pt x="930910" y="945007"/>
                    <a:pt x="945007" y="931037"/>
                    <a:pt x="945007" y="913638"/>
                  </a:cubicBezTo>
                  <a:lnTo>
                    <a:pt x="945007" y="82169"/>
                  </a:lnTo>
                  <a:cubicBezTo>
                    <a:pt x="945007" y="64770"/>
                    <a:pt x="930910" y="50800"/>
                    <a:pt x="913638" y="50800"/>
                  </a:cubicBezTo>
                  <a:lnTo>
                    <a:pt x="82169" y="50800"/>
                  </a:lnTo>
                  <a:lnTo>
                    <a:pt x="82169" y="25400"/>
                  </a:lnTo>
                  <a:lnTo>
                    <a:pt x="82169" y="50800"/>
                  </a:lnTo>
                  <a:cubicBezTo>
                    <a:pt x="64770" y="50800"/>
                    <a:pt x="50800" y="64770"/>
                    <a:pt x="50800" y="82169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92238" y="7617171"/>
            <a:ext cx="16303523" cy="1633690"/>
            <a:chOff x="0" y="0"/>
            <a:chExt cx="21738031" cy="217825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738082" cy="2178304"/>
            </a:xfrm>
            <a:custGeom>
              <a:avLst/>
              <a:gdLst/>
              <a:ahLst/>
              <a:cxnLst/>
              <a:rect r="r" b="b" t="t" l="l"/>
              <a:pathLst>
                <a:path h="2178304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178304"/>
                  </a:lnTo>
                  <a:lnTo>
                    <a:pt x="0" y="2178304"/>
                  </a:ln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92238" y="7617171"/>
            <a:ext cx="16303523" cy="38100"/>
            <a:chOff x="0" y="0"/>
            <a:chExt cx="21738031" cy="50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738082" cy="50800"/>
            </a:xfrm>
            <a:custGeom>
              <a:avLst/>
              <a:gdLst/>
              <a:ahLst/>
              <a:cxnLst/>
              <a:rect r="r" b="b" t="t" l="l"/>
              <a:pathLst>
                <a:path h="50800" w="217380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275759" y="788164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Kubernetes / K3s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75759" y="8408937"/>
            <a:ext cx="1531128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Orchestration du déploiement et exécution de l’application sur le cluster.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317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3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88509"/>
            <a:ext cx="10529440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2D4BA"/>
                </a:solidFill>
                <a:latin typeface="Prata"/>
                <a:ea typeface="Prata"/>
                <a:cs typeface="Prata"/>
                <a:sym typeface="Prata"/>
              </a:rPr>
              <a:t>Déploiement et automatisation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65309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004367"/>
            <a:ext cx="5245446" cy="38100"/>
            <a:chOff x="0" y="0"/>
            <a:chExt cx="6993928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203202"/>
            <a:ext cx="3315196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Commit </a:t>
            </a: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sur GitHub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730506"/>
            <a:ext cx="5245446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Chaque modification du code déclenche automatiquement le pipeline CI/CD.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1206" y="3465309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1206" y="4004367"/>
            <a:ext cx="5245446" cy="38100"/>
            <a:chOff x="0" y="0"/>
            <a:chExt cx="6993928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21206" y="4203202"/>
            <a:ext cx="4347567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Te</a:t>
            </a: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sts automatisés (pytest)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1206" y="4730506"/>
            <a:ext cx="5245446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alidation du backend Flask et des endpoints API avant le déploiement.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0163" y="3465309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50163" y="4004367"/>
            <a:ext cx="5245446" cy="38100"/>
            <a:chOff x="0" y="0"/>
            <a:chExt cx="6993928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50163" y="4203202"/>
            <a:ext cx="5615682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Containerisat</a:t>
            </a: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ion de l’applicationr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0163" y="4730506"/>
            <a:ext cx="5245446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Création de l’image Docker incluant frontend + backend Flask.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6143330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6682378"/>
            <a:ext cx="8009934" cy="38100"/>
            <a:chOff x="0" y="0"/>
            <a:chExt cx="10679913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2238" y="6881222"/>
            <a:ext cx="5036543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Publication de l’image Docker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7408516"/>
            <a:ext cx="8009934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Push sécurisé vers Docker Hub avec gestion des versions.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5684" y="6143330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5684" y="6682378"/>
            <a:ext cx="8009934" cy="38100"/>
            <a:chOff x="0" y="0"/>
            <a:chExt cx="10679913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85684" y="6881222"/>
            <a:ext cx="6089650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D</a:t>
            </a: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éploiement sur cluster Kubernetes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5684" y="7408516"/>
            <a:ext cx="8009934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Mise à jour automatique des pods via rollout restart.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317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3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461765"/>
            <a:ext cx="7088238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2D4BA"/>
                </a:solidFill>
                <a:latin typeface="Prata"/>
                <a:ea typeface="Prata"/>
                <a:cs typeface="Prata"/>
                <a:sym typeface="Prata"/>
              </a:rPr>
              <a:t>Résultats obtenus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4359031"/>
            <a:ext cx="3863130" cy="3447155"/>
            <a:chOff x="0" y="0"/>
            <a:chExt cx="5150841" cy="45962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50866" cy="4596257"/>
            </a:xfrm>
            <a:custGeom>
              <a:avLst/>
              <a:gdLst/>
              <a:ahLst/>
              <a:cxnLst/>
              <a:rect r="r" b="b" t="t" l="l"/>
              <a:pathLst>
                <a:path h="4596257" w="515086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026" y="0"/>
                  </a:lnTo>
                  <a:cubicBezTo>
                    <a:pt x="5041646" y="0"/>
                    <a:pt x="5150866" y="109220"/>
                    <a:pt x="5150866" y="243840"/>
                  </a:cubicBezTo>
                  <a:lnTo>
                    <a:pt x="5150866" y="4352417"/>
                  </a:lnTo>
                  <a:cubicBezTo>
                    <a:pt x="5150866" y="4487037"/>
                    <a:pt x="5041646" y="4596257"/>
                    <a:pt x="4907026" y="4596257"/>
                  </a:cubicBezTo>
                  <a:lnTo>
                    <a:pt x="243840" y="4596257"/>
                  </a:lnTo>
                  <a:cubicBezTo>
                    <a:pt x="109220" y="4596257"/>
                    <a:pt x="0" y="4487037"/>
                    <a:pt x="0" y="4352417"/>
                  </a:cubicBezTo>
                  <a:close/>
                </a:path>
              </a:pathLst>
            </a:custGeom>
            <a:solidFill>
              <a:srgbClr val="21232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4320931"/>
            <a:ext cx="3863130" cy="152400"/>
            <a:chOff x="0" y="0"/>
            <a:chExt cx="5150841" cy="20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50866" cy="203327"/>
            </a:xfrm>
            <a:custGeom>
              <a:avLst/>
              <a:gdLst/>
              <a:ahLst/>
              <a:cxnLst/>
              <a:rect r="r" b="b" t="t" l="l"/>
              <a:pathLst>
                <a:path h="203327" w="5150866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097" y="0"/>
                  </a:lnTo>
                  <a:cubicBezTo>
                    <a:pt x="5125466" y="0"/>
                    <a:pt x="5150866" y="25400"/>
                    <a:pt x="5150866" y="56769"/>
                  </a:cubicBezTo>
                  <a:lnTo>
                    <a:pt x="5150866" y="146558"/>
                  </a:lnTo>
                  <a:cubicBezTo>
                    <a:pt x="5150866" y="177927"/>
                    <a:pt x="5125466" y="203327"/>
                    <a:pt x="5094097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98455" y="3933825"/>
            <a:ext cx="850554" cy="850554"/>
            <a:chOff x="0" y="0"/>
            <a:chExt cx="1134072" cy="1134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2753544" y="4188914"/>
            <a:ext cx="340223" cy="340223"/>
          </a:xfrm>
          <a:custGeom>
            <a:avLst/>
            <a:gdLst/>
            <a:ahLst/>
            <a:cxnLst/>
            <a:rect r="r" b="b" t="t" l="l"/>
            <a:pathLst>
              <a:path h="340223" w="340223">
                <a:moveTo>
                  <a:pt x="0" y="0"/>
                </a:moveTo>
                <a:lnTo>
                  <a:pt x="340224" y="0"/>
                </a:lnTo>
                <a:lnTo>
                  <a:pt x="340224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943" t="0" r="-6945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13859" y="5048698"/>
            <a:ext cx="3219898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Application déployée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859" y="6018905"/>
            <a:ext cx="3219898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Déployée sur Kubernetes de manière stable.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138890" y="4359031"/>
            <a:ext cx="3863283" cy="3447155"/>
            <a:chOff x="0" y="0"/>
            <a:chExt cx="5151044" cy="45962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51120" cy="4596257"/>
            </a:xfrm>
            <a:custGeom>
              <a:avLst/>
              <a:gdLst/>
              <a:ahLst/>
              <a:cxnLst/>
              <a:rect r="r" b="b" t="t" l="l"/>
              <a:pathLst>
                <a:path h="4596257" w="51511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280" y="0"/>
                  </a:lnTo>
                  <a:cubicBezTo>
                    <a:pt x="5041900" y="0"/>
                    <a:pt x="5151120" y="109220"/>
                    <a:pt x="5151120" y="243840"/>
                  </a:cubicBezTo>
                  <a:lnTo>
                    <a:pt x="5151120" y="4352417"/>
                  </a:lnTo>
                  <a:cubicBezTo>
                    <a:pt x="5151120" y="4487037"/>
                    <a:pt x="5041900" y="4596257"/>
                    <a:pt x="4907280" y="4596257"/>
                  </a:cubicBezTo>
                  <a:lnTo>
                    <a:pt x="243840" y="4596257"/>
                  </a:lnTo>
                  <a:cubicBezTo>
                    <a:pt x="109220" y="4596257"/>
                    <a:pt x="0" y="4487037"/>
                    <a:pt x="0" y="4352417"/>
                  </a:cubicBezTo>
                  <a:close/>
                </a:path>
              </a:pathLst>
            </a:custGeom>
            <a:solidFill>
              <a:srgbClr val="21232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138890" y="4320931"/>
            <a:ext cx="3863283" cy="152400"/>
            <a:chOff x="0" y="0"/>
            <a:chExt cx="5151044" cy="20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51120" cy="203327"/>
            </a:xfrm>
            <a:custGeom>
              <a:avLst/>
              <a:gdLst/>
              <a:ahLst/>
              <a:cxnLst/>
              <a:rect r="r" b="b" t="t" l="l"/>
              <a:pathLst>
                <a:path h="203327" w="515112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351" y="0"/>
                  </a:lnTo>
                  <a:cubicBezTo>
                    <a:pt x="5125720" y="0"/>
                    <a:pt x="5151120" y="25400"/>
                    <a:pt x="5151120" y="56769"/>
                  </a:cubicBezTo>
                  <a:lnTo>
                    <a:pt x="5151120" y="146558"/>
                  </a:lnTo>
                  <a:cubicBezTo>
                    <a:pt x="5151120" y="177927"/>
                    <a:pt x="5125720" y="203327"/>
                    <a:pt x="5094351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645250" y="3933825"/>
            <a:ext cx="850554" cy="850554"/>
            <a:chOff x="0" y="0"/>
            <a:chExt cx="1134072" cy="11340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6900339" y="4188914"/>
            <a:ext cx="340223" cy="340223"/>
          </a:xfrm>
          <a:custGeom>
            <a:avLst/>
            <a:gdLst/>
            <a:ahLst/>
            <a:cxnLst/>
            <a:rect r="r" b="b" t="t" l="l"/>
            <a:pathLst>
              <a:path h="340223" w="340223">
                <a:moveTo>
                  <a:pt x="0" y="0"/>
                </a:moveTo>
                <a:lnTo>
                  <a:pt x="340223" y="0"/>
                </a:lnTo>
                <a:lnTo>
                  <a:pt x="340223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460502" y="5048698"/>
            <a:ext cx="3220041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Pipeline CI/CD fonctionnel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60502" y="6018905"/>
            <a:ext cx="3220041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Tests, build et déploiement automatisés.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85684" y="4359031"/>
            <a:ext cx="3863283" cy="3447155"/>
            <a:chOff x="0" y="0"/>
            <a:chExt cx="5151044" cy="45962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51120" cy="4596257"/>
            </a:xfrm>
            <a:custGeom>
              <a:avLst/>
              <a:gdLst/>
              <a:ahLst/>
              <a:cxnLst/>
              <a:rect r="r" b="b" t="t" l="l"/>
              <a:pathLst>
                <a:path h="4596257" w="51511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280" y="0"/>
                  </a:lnTo>
                  <a:cubicBezTo>
                    <a:pt x="5041900" y="0"/>
                    <a:pt x="5151120" y="109220"/>
                    <a:pt x="5151120" y="243840"/>
                  </a:cubicBezTo>
                  <a:lnTo>
                    <a:pt x="5151120" y="4352417"/>
                  </a:lnTo>
                  <a:cubicBezTo>
                    <a:pt x="5151120" y="4487037"/>
                    <a:pt x="5041900" y="4596257"/>
                    <a:pt x="4907280" y="4596257"/>
                  </a:cubicBezTo>
                  <a:lnTo>
                    <a:pt x="243840" y="4596257"/>
                  </a:lnTo>
                  <a:cubicBezTo>
                    <a:pt x="109220" y="4596257"/>
                    <a:pt x="0" y="4487037"/>
                    <a:pt x="0" y="4352417"/>
                  </a:cubicBezTo>
                  <a:close/>
                </a:path>
              </a:pathLst>
            </a:custGeom>
            <a:solidFill>
              <a:srgbClr val="21232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285684" y="4320931"/>
            <a:ext cx="3863283" cy="152400"/>
            <a:chOff x="0" y="0"/>
            <a:chExt cx="5151044" cy="203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51120" cy="203327"/>
            </a:xfrm>
            <a:custGeom>
              <a:avLst/>
              <a:gdLst/>
              <a:ahLst/>
              <a:cxnLst/>
              <a:rect r="r" b="b" t="t" l="l"/>
              <a:pathLst>
                <a:path h="203327" w="515112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351" y="0"/>
                  </a:lnTo>
                  <a:cubicBezTo>
                    <a:pt x="5125720" y="0"/>
                    <a:pt x="5151120" y="25400"/>
                    <a:pt x="5151120" y="56769"/>
                  </a:cubicBezTo>
                  <a:lnTo>
                    <a:pt x="5151120" y="146558"/>
                  </a:lnTo>
                  <a:cubicBezTo>
                    <a:pt x="5151120" y="177927"/>
                    <a:pt x="5125720" y="203327"/>
                    <a:pt x="5094351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792044" y="3933825"/>
            <a:ext cx="850554" cy="850554"/>
            <a:chOff x="0" y="0"/>
            <a:chExt cx="1134072" cy="1134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Freeform 31" id="31" descr="preencoded.png"/>
          <p:cNvSpPr/>
          <p:nvPr/>
        </p:nvSpPr>
        <p:spPr>
          <a:xfrm flipH="false" flipV="false" rot="0">
            <a:off x="11047143" y="4188914"/>
            <a:ext cx="340223" cy="340223"/>
          </a:xfrm>
          <a:custGeom>
            <a:avLst/>
            <a:gdLst/>
            <a:ahLst/>
            <a:cxnLst/>
            <a:rect r="r" b="b" t="t" l="l"/>
            <a:pathLst>
              <a:path h="340223" w="340223">
                <a:moveTo>
                  <a:pt x="0" y="0"/>
                </a:moveTo>
                <a:lnTo>
                  <a:pt x="340223" y="0"/>
                </a:lnTo>
                <a:lnTo>
                  <a:pt x="340223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607306" y="5048698"/>
            <a:ext cx="3220041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Déploiement automatisé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07306" y="6018905"/>
            <a:ext cx="3220041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Chaîne de livraison fluide, de bout en bout.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432479" y="4359031"/>
            <a:ext cx="3863283" cy="3447155"/>
            <a:chOff x="0" y="0"/>
            <a:chExt cx="5151044" cy="459620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51120" cy="4596257"/>
            </a:xfrm>
            <a:custGeom>
              <a:avLst/>
              <a:gdLst/>
              <a:ahLst/>
              <a:cxnLst/>
              <a:rect r="r" b="b" t="t" l="l"/>
              <a:pathLst>
                <a:path h="4596257" w="51511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280" y="0"/>
                  </a:lnTo>
                  <a:cubicBezTo>
                    <a:pt x="5041900" y="0"/>
                    <a:pt x="5151120" y="109220"/>
                    <a:pt x="5151120" y="243840"/>
                  </a:cubicBezTo>
                  <a:lnTo>
                    <a:pt x="5151120" y="4352417"/>
                  </a:lnTo>
                  <a:cubicBezTo>
                    <a:pt x="5151120" y="4487037"/>
                    <a:pt x="5041900" y="4596257"/>
                    <a:pt x="4907280" y="4596257"/>
                  </a:cubicBezTo>
                  <a:lnTo>
                    <a:pt x="243840" y="4596257"/>
                  </a:lnTo>
                  <a:cubicBezTo>
                    <a:pt x="109220" y="4596257"/>
                    <a:pt x="0" y="4487037"/>
                    <a:pt x="0" y="4352417"/>
                  </a:cubicBezTo>
                  <a:close/>
                </a:path>
              </a:pathLst>
            </a:custGeom>
            <a:solidFill>
              <a:srgbClr val="21232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432479" y="4320931"/>
            <a:ext cx="3863283" cy="152400"/>
            <a:chOff x="0" y="0"/>
            <a:chExt cx="5151044" cy="203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51120" cy="203327"/>
            </a:xfrm>
            <a:custGeom>
              <a:avLst/>
              <a:gdLst/>
              <a:ahLst/>
              <a:cxnLst/>
              <a:rect r="r" b="b" t="t" l="l"/>
              <a:pathLst>
                <a:path h="203327" w="515112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351" y="0"/>
                  </a:lnTo>
                  <a:cubicBezTo>
                    <a:pt x="5125720" y="0"/>
                    <a:pt x="5151120" y="25400"/>
                    <a:pt x="5151120" y="56769"/>
                  </a:cubicBezTo>
                  <a:lnTo>
                    <a:pt x="5151120" y="146558"/>
                  </a:lnTo>
                  <a:cubicBezTo>
                    <a:pt x="5151120" y="177927"/>
                    <a:pt x="5125720" y="203327"/>
                    <a:pt x="5094351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938848" y="3933825"/>
            <a:ext cx="850554" cy="850554"/>
            <a:chOff x="0" y="0"/>
            <a:chExt cx="1134072" cy="11340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4482D"/>
            </a:solidFill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15193937" y="4188914"/>
            <a:ext cx="340223" cy="340223"/>
          </a:xfrm>
          <a:custGeom>
            <a:avLst/>
            <a:gdLst/>
            <a:ahLst/>
            <a:cxnLst/>
            <a:rect r="r" b="b" t="t" l="l"/>
            <a:pathLst>
              <a:path h="340223" w="340223">
                <a:moveTo>
                  <a:pt x="0" y="0"/>
                </a:moveTo>
                <a:lnTo>
                  <a:pt x="340224" y="0"/>
                </a:lnTo>
                <a:lnTo>
                  <a:pt x="340224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777" r="0" b="-2777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3754100" y="5048698"/>
            <a:ext cx="3220041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DA189"/>
                </a:solidFill>
                <a:latin typeface="Prata"/>
                <a:ea typeface="Prata"/>
                <a:cs typeface="Prata"/>
                <a:sym typeface="Prata"/>
              </a:rPr>
              <a:t>Accès public via IP et NodePort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754100" y="6018905"/>
            <a:ext cx="3220041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DA189"/>
                </a:solidFill>
                <a:latin typeface="Arimo"/>
                <a:ea typeface="Arimo"/>
                <a:cs typeface="Arimo"/>
                <a:sym typeface="Arimo"/>
              </a:rPr>
              <a:t>L’application est accessible depuis l’extérieur.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317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3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463108"/>
            <a:ext cx="9130455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2D4BA"/>
                </a:solidFill>
                <a:latin typeface="Prata"/>
                <a:ea typeface="Prata"/>
                <a:cs typeface="Prata"/>
                <a:sym typeface="Prata"/>
              </a:rPr>
              <a:t>Conclusion et perspectives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935168"/>
            <a:ext cx="16303523" cy="3869684"/>
            <a:chOff x="0" y="0"/>
            <a:chExt cx="21738031" cy="51595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37954" cy="5159502"/>
            </a:xfrm>
            <a:custGeom>
              <a:avLst/>
              <a:gdLst/>
              <a:ahLst/>
              <a:cxnLst/>
              <a:rect r="r" b="b" t="t" l="l"/>
              <a:pathLst>
                <a:path h="5159502" w="2173795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21681312" y="0"/>
                  </a:lnTo>
                  <a:cubicBezTo>
                    <a:pt x="21712681" y="0"/>
                    <a:pt x="21737954" y="25400"/>
                    <a:pt x="21737954" y="56642"/>
                  </a:cubicBezTo>
                  <a:lnTo>
                    <a:pt x="21737954" y="5102860"/>
                  </a:lnTo>
                  <a:cubicBezTo>
                    <a:pt x="21737954" y="5134229"/>
                    <a:pt x="21712554" y="5159502"/>
                    <a:pt x="21681312" y="5159502"/>
                  </a:cubicBezTo>
                  <a:lnTo>
                    <a:pt x="56642" y="5159502"/>
                  </a:lnTo>
                  <a:cubicBezTo>
                    <a:pt x="25273" y="5159502"/>
                    <a:pt x="0" y="5134102"/>
                    <a:pt x="0" y="5102860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3935168"/>
            <a:ext cx="4075805" cy="3869684"/>
            <a:chOff x="0" y="0"/>
            <a:chExt cx="5434406" cy="51595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34330" cy="5159502"/>
            </a:xfrm>
            <a:custGeom>
              <a:avLst/>
              <a:gdLst/>
              <a:ahLst/>
              <a:cxnLst/>
              <a:rect r="r" b="b" t="t" l="l"/>
              <a:pathLst>
                <a:path h="5159502" w="543433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5377688" y="0"/>
                  </a:lnTo>
                  <a:cubicBezTo>
                    <a:pt x="5409057" y="0"/>
                    <a:pt x="5434330" y="25400"/>
                    <a:pt x="5434330" y="56642"/>
                  </a:cubicBezTo>
                  <a:lnTo>
                    <a:pt x="5434330" y="5102860"/>
                  </a:lnTo>
                  <a:cubicBezTo>
                    <a:pt x="5434330" y="5134229"/>
                    <a:pt x="5408930" y="5159502"/>
                    <a:pt x="5377688" y="5159502"/>
                  </a:cubicBezTo>
                  <a:lnTo>
                    <a:pt x="56642" y="5159502"/>
                  </a:lnTo>
                  <a:cubicBezTo>
                    <a:pt x="25273" y="5159502"/>
                    <a:pt x="0" y="5134102"/>
                    <a:pt x="0" y="5102860"/>
                  </a:cubicBezTo>
                  <a:close/>
                </a:path>
              </a:pathLst>
            </a:custGeom>
            <a:solidFill>
              <a:srgbClr val="404245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75759" y="4199630"/>
            <a:ext cx="3083566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Problématique DevOps résolue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5759" y="5169846"/>
            <a:ext cx="308356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Une chaîne de livraison claire et cohérente.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068043" y="3935168"/>
            <a:ext cx="4075957" cy="3869684"/>
            <a:chOff x="0" y="0"/>
            <a:chExt cx="5434609" cy="51595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34584" cy="5159629"/>
            </a:xfrm>
            <a:custGeom>
              <a:avLst/>
              <a:gdLst/>
              <a:ahLst/>
              <a:cxnLst/>
              <a:rect r="r" b="b" t="t" l="l"/>
              <a:pathLst>
                <a:path h="5159629" w="5434584">
                  <a:moveTo>
                    <a:pt x="0" y="0"/>
                  </a:moveTo>
                  <a:lnTo>
                    <a:pt x="5434584" y="0"/>
                  </a:lnTo>
                  <a:lnTo>
                    <a:pt x="5434584" y="5159629"/>
                  </a:lnTo>
                  <a:lnTo>
                    <a:pt x="0" y="5159629"/>
                  </a:ln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068043" y="3935168"/>
            <a:ext cx="38100" cy="3869684"/>
            <a:chOff x="0" y="0"/>
            <a:chExt cx="50800" cy="51595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00" cy="5159629"/>
            </a:xfrm>
            <a:custGeom>
              <a:avLst/>
              <a:gdLst/>
              <a:ahLst/>
              <a:cxnLst/>
              <a:rect r="r" b="b" t="t" l="l"/>
              <a:pathLst>
                <a:path h="5159629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5134229"/>
                  </a:lnTo>
                  <a:cubicBezTo>
                    <a:pt x="50800" y="5148199"/>
                    <a:pt x="39370" y="5159629"/>
                    <a:pt x="25400" y="5159629"/>
                  </a:cubicBezTo>
                  <a:cubicBezTo>
                    <a:pt x="11430" y="5159629"/>
                    <a:pt x="0" y="5148199"/>
                    <a:pt x="0" y="5134229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776760" y="4199630"/>
            <a:ext cx="2658513" cy="134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Workflow automatisé et reproductible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76760" y="5612759"/>
            <a:ext cx="265851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Du build au déploiement, tout est standardisé.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694634" y="5496516"/>
            <a:ext cx="746817" cy="746817"/>
            <a:chOff x="0" y="0"/>
            <a:chExt cx="995756" cy="9957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888238" y="0"/>
                  </a:lnTo>
                  <a:cubicBezTo>
                    <a:pt x="919607" y="0"/>
                    <a:pt x="945007" y="25400"/>
                    <a:pt x="945007" y="56769"/>
                  </a:cubicBezTo>
                  <a:lnTo>
                    <a:pt x="945007" y="888238"/>
                  </a:lnTo>
                  <a:cubicBezTo>
                    <a:pt x="945007" y="919607"/>
                    <a:pt x="919607" y="945007"/>
                    <a:pt x="888238" y="945007"/>
                  </a:cubicBezTo>
                  <a:lnTo>
                    <a:pt x="56769" y="945007"/>
                  </a:lnTo>
                  <a:cubicBezTo>
                    <a:pt x="25400" y="945007"/>
                    <a:pt x="0" y="919607"/>
                    <a:pt x="0" y="888238"/>
                  </a:cubicBezTo>
                  <a:close/>
                </a:path>
              </a:pathLst>
            </a:custGeom>
            <a:solidFill>
              <a:srgbClr val="212326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5807" cy="995807"/>
            </a:xfrm>
            <a:custGeom>
              <a:avLst/>
              <a:gdLst/>
              <a:ahLst/>
              <a:cxnLst/>
              <a:rect r="r" b="b" t="t" l="l"/>
              <a:pathLst>
                <a:path h="995807" w="995807">
                  <a:moveTo>
                    <a:pt x="0" y="82169"/>
                  </a:moveTo>
                  <a:cubicBezTo>
                    <a:pt x="0" y="36703"/>
                    <a:pt x="36703" y="0"/>
                    <a:pt x="82169" y="0"/>
                  </a:cubicBezTo>
                  <a:lnTo>
                    <a:pt x="913638" y="0"/>
                  </a:lnTo>
                  <a:lnTo>
                    <a:pt x="913638" y="25400"/>
                  </a:lnTo>
                  <a:lnTo>
                    <a:pt x="913638" y="0"/>
                  </a:lnTo>
                  <a:cubicBezTo>
                    <a:pt x="958977" y="0"/>
                    <a:pt x="995807" y="36703"/>
                    <a:pt x="995807" y="82169"/>
                  </a:cubicBezTo>
                  <a:lnTo>
                    <a:pt x="970407" y="82169"/>
                  </a:lnTo>
                  <a:lnTo>
                    <a:pt x="995807" y="82169"/>
                  </a:lnTo>
                  <a:lnTo>
                    <a:pt x="995807" y="913638"/>
                  </a:lnTo>
                  <a:lnTo>
                    <a:pt x="970407" y="913638"/>
                  </a:lnTo>
                  <a:lnTo>
                    <a:pt x="995807" y="913638"/>
                  </a:lnTo>
                  <a:cubicBezTo>
                    <a:pt x="995807" y="958977"/>
                    <a:pt x="959104" y="995807"/>
                    <a:pt x="913638" y="995807"/>
                  </a:cubicBezTo>
                  <a:lnTo>
                    <a:pt x="913638" y="970407"/>
                  </a:lnTo>
                  <a:lnTo>
                    <a:pt x="913638" y="995807"/>
                  </a:lnTo>
                  <a:lnTo>
                    <a:pt x="82169" y="995807"/>
                  </a:lnTo>
                  <a:lnTo>
                    <a:pt x="82169" y="970407"/>
                  </a:lnTo>
                  <a:lnTo>
                    <a:pt x="82169" y="995807"/>
                  </a:lnTo>
                  <a:cubicBezTo>
                    <a:pt x="36703" y="995807"/>
                    <a:pt x="0" y="958977"/>
                    <a:pt x="0" y="913638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913638"/>
                  </a:lnTo>
                  <a:lnTo>
                    <a:pt x="25400" y="913638"/>
                  </a:lnTo>
                  <a:lnTo>
                    <a:pt x="50800" y="913638"/>
                  </a:lnTo>
                  <a:cubicBezTo>
                    <a:pt x="50800" y="930910"/>
                    <a:pt x="64770" y="945007"/>
                    <a:pt x="82169" y="945007"/>
                  </a:cubicBezTo>
                  <a:lnTo>
                    <a:pt x="913638" y="945007"/>
                  </a:lnTo>
                  <a:cubicBezTo>
                    <a:pt x="930910" y="945007"/>
                    <a:pt x="945007" y="931037"/>
                    <a:pt x="945007" y="913638"/>
                  </a:cubicBezTo>
                  <a:lnTo>
                    <a:pt x="945007" y="82169"/>
                  </a:lnTo>
                  <a:cubicBezTo>
                    <a:pt x="945007" y="64770"/>
                    <a:pt x="930910" y="50800"/>
                    <a:pt x="913638" y="50800"/>
                  </a:cubicBezTo>
                  <a:lnTo>
                    <a:pt x="82169" y="50800"/>
                  </a:lnTo>
                  <a:lnTo>
                    <a:pt x="82169" y="25400"/>
                  </a:lnTo>
                  <a:lnTo>
                    <a:pt x="82169" y="50800"/>
                  </a:lnTo>
                  <a:cubicBezTo>
                    <a:pt x="64770" y="50800"/>
                    <a:pt x="50800" y="64770"/>
                    <a:pt x="50800" y="82169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4890792" y="5692673"/>
            <a:ext cx="354359" cy="354359"/>
          </a:xfrm>
          <a:custGeom>
            <a:avLst/>
            <a:gdLst/>
            <a:ahLst/>
            <a:cxnLst/>
            <a:rect r="r" b="b" t="t" l="l"/>
            <a:pathLst>
              <a:path h="354359" w="354359">
                <a:moveTo>
                  <a:pt x="0" y="0"/>
                </a:moveTo>
                <a:lnTo>
                  <a:pt x="354359" y="0"/>
                </a:lnTo>
                <a:lnTo>
                  <a:pt x="354359" y="354359"/>
                </a:lnTo>
                <a:lnTo>
                  <a:pt x="0" y="354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144000" y="3935168"/>
            <a:ext cx="4075805" cy="3869684"/>
            <a:chOff x="0" y="0"/>
            <a:chExt cx="5434406" cy="51595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34457" cy="5159629"/>
            </a:xfrm>
            <a:custGeom>
              <a:avLst/>
              <a:gdLst/>
              <a:ahLst/>
              <a:cxnLst/>
              <a:rect r="r" b="b" t="t" l="l"/>
              <a:pathLst>
                <a:path h="5159629" w="5434457">
                  <a:moveTo>
                    <a:pt x="0" y="0"/>
                  </a:moveTo>
                  <a:lnTo>
                    <a:pt x="5434457" y="0"/>
                  </a:lnTo>
                  <a:lnTo>
                    <a:pt x="5434457" y="5159629"/>
                  </a:lnTo>
                  <a:lnTo>
                    <a:pt x="0" y="5159629"/>
                  </a:ln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0" y="3935168"/>
            <a:ext cx="38100" cy="3869684"/>
            <a:chOff x="0" y="0"/>
            <a:chExt cx="50800" cy="51595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800" cy="5159629"/>
            </a:xfrm>
            <a:custGeom>
              <a:avLst/>
              <a:gdLst/>
              <a:ahLst/>
              <a:cxnLst/>
              <a:rect r="r" b="b" t="t" l="l"/>
              <a:pathLst>
                <a:path h="5159629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5134229"/>
                  </a:lnTo>
                  <a:cubicBezTo>
                    <a:pt x="50800" y="5148199"/>
                    <a:pt x="39370" y="5159629"/>
                    <a:pt x="25400" y="5159629"/>
                  </a:cubicBezTo>
                  <a:cubicBezTo>
                    <a:pt x="11430" y="5159629"/>
                    <a:pt x="0" y="5148199"/>
                    <a:pt x="0" y="5134229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852717" y="4199630"/>
            <a:ext cx="2658370" cy="134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Infrastructure et déploiement opérationnels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52717" y="5612759"/>
            <a:ext cx="2658370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Une solution stable, prête à être utilisée.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770591" y="5496516"/>
            <a:ext cx="746817" cy="746817"/>
            <a:chOff x="0" y="0"/>
            <a:chExt cx="995756" cy="9957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888238" y="0"/>
                  </a:lnTo>
                  <a:cubicBezTo>
                    <a:pt x="919607" y="0"/>
                    <a:pt x="945007" y="25400"/>
                    <a:pt x="945007" y="56769"/>
                  </a:cubicBezTo>
                  <a:lnTo>
                    <a:pt x="945007" y="888238"/>
                  </a:lnTo>
                  <a:cubicBezTo>
                    <a:pt x="945007" y="919607"/>
                    <a:pt x="919607" y="945007"/>
                    <a:pt x="888238" y="945007"/>
                  </a:cubicBezTo>
                  <a:lnTo>
                    <a:pt x="56769" y="945007"/>
                  </a:lnTo>
                  <a:cubicBezTo>
                    <a:pt x="25400" y="945007"/>
                    <a:pt x="0" y="919607"/>
                    <a:pt x="0" y="888238"/>
                  </a:cubicBezTo>
                  <a:close/>
                </a:path>
              </a:pathLst>
            </a:custGeom>
            <a:solidFill>
              <a:srgbClr val="212326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95807" cy="995807"/>
            </a:xfrm>
            <a:custGeom>
              <a:avLst/>
              <a:gdLst/>
              <a:ahLst/>
              <a:cxnLst/>
              <a:rect r="r" b="b" t="t" l="l"/>
              <a:pathLst>
                <a:path h="995807" w="995807">
                  <a:moveTo>
                    <a:pt x="0" y="82169"/>
                  </a:moveTo>
                  <a:cubicBezTo>
                    <a:pt x="0" y="36703"/>
                    <a:pt x="36703" y="0"/>
                    <a:pt x="82169" y="0"/>
                  </a:cubicBezTo>
                  <a:lnTo>
                    <a:pt x="913638" y="0"/>
                  </a:lnTo>
                  <a:lnTo>
                    <a:pt x="913638" y="25400"/>
                  </a:lnTo>
                  <a:lnTo>
                    <a:pt x="913638" y="0"/>
                  </a:lnTo>
                  <a:cubicBezTo>
                    <a:pt x="958977" y="0"/>
                    <a:pt x="995807" y="36703"/>
                    <a:pt x="995807" y="82169"/>
                  </a:cubicBezTo>
                  <a:lnTo>
                    <a:pt x="970407" y="82169"/>
                  </a:lnTo>
                  <a:lnTo>
                    <a:pt x="995807" y="82169"/>
                  </a:lnTo>
                  <a:lnTo>
                    <a:pt x="995807" y="913638"/>
                  </a:lnTo>
                  <a:lnTo>
                    <a:pt x="970407" y="913638"/>
                  </a:lnTo>
                  <a:lnTo>
                    <a:pt x="995807" y="913638"/>
                  </a:lnTo>
                  <a:cubicBezTo>
                    <a:pt x="995807" y="958977"/>
                    <a:pt x="959104" y="995807"/>
                    <a:pt x="913638" y="995807"/>
                  </a:cubicBezTo>
                  <a:lnTo>
                    <a:pt x="913638" y="970407"/>
                  </a:lnTo>
                  <a:lnTo>
                    <a:pt x="913638" y="995807"/>
                  </a:lnTo>
                  <a:lnTo>
                    <a:pt x="82169" y="995807"/>
                  </a:lnTo>
                  <a:lnTo>
                    <a:pt x="82169" y="970407"/>
                  </a:lnTo>
                  <a:lnTo>
                    <a:pt x="82169" y="995807"/>
                  </a:lnTo>
                  <a:cubicBezTo>
                    <a:pt x="36703" y="995807"/>
                    <a:pt x="0" y="958977"/>
                    <a:pt x="0" y="913638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913638"/>
                  </a:lnTo>
                  <a:lnTo>
                    <a:pt x="25400" y="913638"/>
                  </a:lnTo>
                  <a:lnTo>
                    <a:pt x="50800" y="913638"/>
                  </a:lnTo>
                  <a:cubicBezTo>
                    <a:pt x="50800" y="930910"/>
                    <a:pt x="64770" y="945007"/>
                    <a:pt x="82169" y="945007"/>
                  </a:cubicBezTo>
                  <a:lnTo>
                    <a:pt x="913638" y="945007"/>
                  </a:lnTo>
                  <a:cubicBezTo>
                    <a:pt x="930910" y="945007"/>
                    <a:pt x="945007" y="931037"/>
                    <a:pt x="945007" y="913638"/>
                  </a:cubicBezTo>
                  <a:lnTo>
                    <a:pt x="945007" y="82169"/>
                  </a:lnTo>
                  <a:cubicBezTo>
                    <a:pt x="945007" y="64770"/>
                    <a:pt x="930910" y="50800"/>
                    <a:pt x="913638" y="50800"/>
                  </a:cubicBezTo>
                  <a:lnTo>
                    <a:pt x="82169" y="50800"/>
                  </a:lnTo>
                  <a:lnTo>
                    <a:pt x="82169" y="25400"/>
                  </a:lnTo>
                  <a:lnTo>
                    <a:pt x="82169" y="50800"/>
                  </a:lnTo>
                  <a:cubicBezTo>
                    <a:pt x="64770" y="50800"/>
                    <a:pt x="50800" y="64770"/>
                    <a:pt x="50800" y="82169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8966749" y="5692673"/>
            <a:ext cx="354359" cy="354359"/>
          </a:xfrm>
          <a:custGeom>
            <a:avLst/>
            <a:gdLst/>
            <a:ahLst/>
            <a:cxnLst/>
            <a:rect r="r" b="b" t="t" l="l"/>
            <a:pathLst>
              <a:path h="354359" w="354359">
                <a:moveTo>
                  <a:pt x="0" y="0"/>
                </a:moveTo>
                <a:lnTo>
                  <a:pt x="354359" y="0"/>
                </a:lnTo>
                <a:lnTo>
                  <a:pt x="354359" y="354359"/>
                </a:lnTo>
                <a:lnTo>
                  <a:pt x="0" y="354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263" t="0" r="-5263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3219805" y="3935168"/>
            <a:ext cx="4075957" cy="3869684"/>
            <a:chOff x="0" y="0"/>
            <a:chExt cx="5434609" cy="515957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34584" cy="5159629"/>
            </a:xfrm>
            <a:custGeom>
              <a:avLst/>
              <a:gdLst/>
              <a:ahLst/>
              <a:cxnLst/>
              <a:rect r="r" b="b" t="t" l="l"/>
              <a:pathLst>
                <a:path h="5159629" w="5434584">
                  <a:moveTo>
                    <a:pt x="0" y="0"/>
                  </a:moveTo>
                  <a:lnTo>
                    <a:pt x="5434584" y="0"/>
                  </a:lnTo>
                  <a:lnTo>
                    <a:pt x="5434584" y="5159629"/>
                  </a:lnTo>
                  <a:lnTo>
                    <a:pt x="0" y="5159629"/>
                  </a:lnTo>
                  <a:close/>
                </a:path>
              </a:pathLst>
            </a:custGeom>
            <a:solidFill>
              <a:srgbClr val="40424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219805" y="3935168"/>
            <a:ext cx="38100" cy="3869684"/>
            <a:chOff x="0" y="0"/>
            <a:chExt cx="50800" cy="515957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800" cy="5159629"/>
            </a:xfrm>
            <a:custGeom>
              <a:avLst/>
              <a:gdLst/>
              <a:ahLst/>
              <a:cxnLst/>
              <a:rect r="r" b="b" t="t" l="l"/>
              <a:pathLst>
                <a:path h="5159629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5134229"/>
                  </a:lnTo>
                  <a:cubicBezTo>
                    <a:pt x="50800" y="5148199"/>
                    <a:pt x="39370" y="5159629"/>
                    <a:pt x="25400" y="5159629"/>
                  </a:cubicBezTo>
                  <a:cubicBezTo>
                    <a:pt x="11430" y="5159629"/>
                    <a:pt x="0" y="5148199"/>
                    <a:pt x="0" y="5134229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3928522" y="4199630"/>
            <a:ext cx="3083719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Perspectives : monitoring, sécurité, scalabilité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928522" y="6055671"/>
            <a:ext cx="3083719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Superviser, renforcer et préparer la montée en charge.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846396" y="5496516"/>
            <a:ext cx="746817" cy="746817"/>
            <a:chOff x="0" y="0"/>
            <a:chExt cx="995756" cy="9957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5400" y="2540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888238" y="0"/>
                  </a:lnTo>
                  <a:cubicBezTo>
                    <a:pt x="919607" y="0"/>
                    <a:pt x="945007" y="25400"/>
                    <a:pt x="945007" y="56769"/>
                  </a:cubicBezTo>
                  <a:lnTo>
                    <a:pt x="945007" y="888238"/>
                  </a:lnTo>
                  <a:cubicBezTo>
                    <a:pt x="945007" y="919607"/>
                    <a:pt x="919607" y="945007"/>
                    <a:pt x="888238" y="945007"/>
                  </a:cubicBezTo>
                  <a:lnTo>
                    <a:pt x="56769" y="945007"/>
                  </a:lnTo>
                  <a:cubicBezTo>
                    <a:pt x="25400" y="945007"/>
                    <a:pt x="0" y="919607"/>
                    <a:pt x="0" y="888238"/>
                  </a:cubicBezTo>
                  <a:close/>
                </a:path>
              </a:pathLst>
            </a:custGeom>
            <a:solidFill>
              <a:srgbClr val="212326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95807" cy="995807"/>
            </a:xfrm>
            <a:custGeom>
              <a:avLst/>
              <a:gdLst/>
              <a:ahLst/>
              <a:cxnLst/>
              <a:rect r="r" b="b" t="t" l="l"/>
              <a:pathLst>
                <a:path h="995807" w="995807">
                  <a:moveTo>
                    <a:pt x="0" y="82169"/>
                  </a:moveTo>
                  <a:cubicBezTo>
                    <a:pt x="0" y="36703"/>
                    <a:pt x="36703" y="0"/>
                    <a:pt x="82169" y="0"/>
                  </a:cubicBezTo>
                  <a:lnTo>
                    <a:pt x="913638" y="0"/>
                  </a:lnTo>
                  <a:lnTo>
                    <a:pt x="913638" y="25400"/>
                  </a:lnTo>
                  <a:lnTo>
                    <a:pt x="913638" y="0"/>
                  </a:lnTo>
                  <a:cubicBezTo>
                    <a:pt x="958977" y="0"/>
                    <a:pt x="995807" y="36703"/>
                    <a:pt x="995807" y="82169"/>
                  </a:cubicBezTo>
                  <a:lnTo>
                    <a:pt x="970407" y="82169"/>
                  </a:lnTo>
                  <a:lnTo>
                    <a:pt x="995807" y="82169"/>
                  </a:lnTo>
                  <a:lnTo>
                    <a:pt x="995807" y="913638"/>
                  </a:lnTo>
                  <a:lnTo>
                    <a:pt x="970407" y="913638"/>
                  </a:lnTo>
                  <a:lnTo>
                    <a:pt x="995807" y="913638"/>
                  </a:lnTo>
                  <a:cubicBezTo>
                    <a:pt x="995807" y="958977"/>
                    <a:pt x="959104" y="995807"/>
                    <a:pt x="913638" y="995807"/>
                  </a:cubicBezTo>
                  <a:lnTo>
                    <a:pt x="913638" y="970407"/>
                  </a:lnTo>
                  <a:lnTo>
                    <a:pt x="913638" y="995807"/>
                  </a:lnTo>
                  <a:lnTo>
                    <a:pt x="82169" y="995807"/>
                  </a:lnTo>
                  <a:lnTo>
                    <a:pt x="82169" y="970407"/>
                  </a:lnTo>
                  <a:lnTo>
                    <a:pt x="82169" y="995807"/>
                  </a:lnTo>
                  <a:cubicBezTo>
                    <a:pt x="36703" y="995807"/>
                    <a:pt x="0" y="958977"/>
                    <a:pt x="0" y="913638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913638"/>
                  </a:lnTo>
                  <a:lnTo>
                    <a:pt x="25400" y="913638"/>
                  </a:lnTo>
                  <a:lnTo>
                    <a:pt x="50800" y="913638"/>
                  </a:lnTo>
                  <a:cubicBezTo>
                    <a:pt x="50800" y="930910"/>
                    <a:pt x="64770" y="945007"/>
                    <a:pt x="82169" y="945007"/>
                  </a:cubicBezTo>
                  <a:lnTo>
                    <a:pt x="913638" y="945007"/>
                  </a:lnTo>
                  <a:cubicBezTo>
                    <a:pt x="930910" y="945007"/>
                    <a:pt x="945007" y="931037"/>
                    <a:pt x="945007" y="913638"/>
                  </a:cubicBezTo>
                  <a:lnTo>
                    <a:pt x="945007" y="82169"/>
                  </a:lnTo>
                  <a:cubicBezTo>
                    <a:pt x="945007" y="64770"/>
                    <a:pt x="930910" y="50800"/>
                    <a:pt x="913638" y="50800"/>
                  </a:cubicBezTo>
                  <a:lnTo>
                    <a:pt x="82169" y="50800"/>
                  </a:lnTo>
                  <a:lnTo>
                    <a:pt x="82169" y="25400"/>
                  </a:lnTo>
                  <a:lnTo>
                    <a:pt x="82169" y="50800"/>
                  </a:lnTo>
                  <a:cubicBezTo>
                    <a:pt x="64770" y="50800"/>
                    <a:pt x="50800" y="64770"/>
                    <a:pt x="50800" y="82169"/>
                  </a:cubicBezTo>
                  <a:close/>
                </a:path>
              </a:pathLst>
            </a:custGeom>
            <a:solidFill>
              <a:srgbClr val="595B5E"/>
            </a:solidFill>
          </p:spPr>
        </p:sp>
      </p:grpSp>
      <p:sp>
        <p:nvSpPr>
          <p:cNvPr name="Freeform 42" id="42" descr="preencoded.png"/>
          <p:cNvSpPr/>
          <p:nvPr/>
        </p:nvSpPr>
        <p:spPr>
          <a:xfrm flipH="false" flipV="false" rot="0">
            <a:off x="13042554" y="5692673"/>
            <a:ext cx="354359" cy="354359"/>
          </a:xfrm>
          <a:custGeom>
            <a:avLst/>
            <a:gdLst/>
            <a:ahLst/>
            <a:cxnLst/>
            <a:rect r="r" b="b" t="t" l="l"/>
            <a:pathLst>
              <a:path h="354359" w="354359">
                <a:moveTo>
                  <a:pt x="0" y="0"/>
                </a:moveTo>
                <a:lnTo>
                  <a:pt x="354358" y="0"/>
                </a:lnTo>
                <a:lnTo>
                  <a:pt x="354358" y="354359"/>
                </a:lnTo>
                <a:lnTo>
                  <a:pt x="0" y="3543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DAHE5TpPwrw</dc:identifier>
  <dcterms:modified xsi:type="dcterms:W3CDTF">2011-08-01T06:04:30Z</dcterms:modified>
  <cp:revision>1</cp:revision>
  <dc:title>Mise-en-place-dune-infrastructure-DevOps-complete (4).pptx</dc:title>
</cp:coreProperties>
</file>